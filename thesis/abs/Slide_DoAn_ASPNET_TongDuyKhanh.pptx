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1e67e77-8995-9fa0-cd5c-993628d4c17d}">
          <p14:sldIdLst>
            <p14:sldId id="256"/>
            <p14:sldId id="257"/>
          </p14:sldIdLst>
        </p14:section>
        <p14:section name="Giới thiệu" id="{572dd124-f154-d4f7-cb8f-dc5be10bb8b9}">
          <p14:sldIdLst>
            <p14:sldId id="258"/>
            <p14:sldId id="259"/>
            <p14:sldId id="260"/>
          </p14:sldIdLst>
        </p14:section>
        <p14:section name="Phân tích và thiết kế" id="{0aa7a59b-bd13-f6c3-aed1-72a35f2e0184}">
          <p14:sldIdLst>
            <p14:sldId id="261"/>
            <p14:sldId id="262"/>
            <p14:sldId id="263"/>
            <p14:sldId id="264"/>
          </p14:sldIdLst>
        </p14:section>
        <p14:section name="Cài đặt" id="{872bc6b0-e59d-dbb4-aaf0-3a3216b4dd5a}">
          <p14:sldIdLst>
            <p14:sldId id="265"/>
          </p14:sldIdLst>
        </p14:section>
        <p14:section name="Demo" id="{d0f55b64-0e41-a47c-f86f-ffb65cbbe9ce}">
          <p14:sldIdLst>
            <p14:sldId id="266"/>
            <p14:sldId id="267"/>
          </p14:sldIdLst>
        </p14:section>
        <p14:section name="Đánh giá" id="{6194c406-38d9-2df0-9422-342699daa2e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Em là Tống Duy Khanh, lớp VX23TTK12. Hôm nay em xin trình bày đồ án Chuyên đề ASP.NET với đề tài Xây dựng website đặt lịch hẹn khám bệnh ngoài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giới thiệu đề tài; phân tích và thiết kế; cài đặt và triển khai; demo kết quả; cuối cùng là đánh giá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phòng khám đã tổ chức khám ngoài giờ cho người đi làm, nhưng việc đặt hẹn vẫn qua điện thoại và sổ sách: người bệnh không biết giờ trống, lễ tân dễ ghi trùng, quản lý thiếu số liệu. Đề tài xây dựng website để bệnh nhân tự đặt lịch, hệ thống tự chống trùng, lễ tân duyệt và quản trị xem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phân tích nghiệp vụ với 3 tác nhân, 11 chức năng; thiết kế cơ sở dữ liệu 7 bảng có đầy đủ ràng buộc; cài đặt và kiểm thử đạt 19 trên 19 kịch bản. Phạm vi là một phòng khám, khung giờ ngoài giờ hành chính, chạy thử nghiệm trên máy cá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dùng ASP.NET Web Forms trên .NET Framework 4.8 với ngôn ngữ C#, truy cập dữ liệu bằng ADO.NET và truy vấn có tham số. Cơ sở dữ liệu là SQL Server Express. Công cụ là Visual Studio và SSMS. Mã nguồn quản lý trên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gồm 3 tác nhân. Bệnh nhân đăng ký, đặt lịch, xem và hủy lịch. Lễ tân quản lý, duyệt và tìm kiếm lịch hẹn. Quản trị viên có toàn bộ quyền của lễ tân, cộng thêm quản lý danh mục và thống kê. Tổng cộng 11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gồm 7 bảng: VaiTro, TaiKhoan, BenhNhan, ChuyenKhoa, BacSi, KhungGio, LichHen. Ngoài khóa chính, khóa ngoại còn có ràng buộc UNIQUE, CHECK và một chỉ mục duy nhất có điều kiện. Em xây dựng thêm view chi tiết lịch hẹn và các thủ tục đặt lịch, hủy lịch,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Lịch hẹn đi theo trình tự: Chờ xác nhận, Đã xác nhận, Đã khám, hoặc chuyển sang Đã hủy. Bốn quy tắc nghiệp vụ được bảo đảm ở cả ứng dụng và cơ sở dữ liệu. Đặc biệt, chỉ mục duy nhất có điều kiện giúp hai người đặt cùng lúc một khung giờ thì chỉ một người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đặt lịch, bệnh nhân chọn liên hoàn chuyên khoa, bác sĩ, ngày và khung giờ; hệ thống chỉ hiện khung giờ còn trống. Khi bấm Đặt lịch, thủ tục sp_DatLich kiểm tra lại toàn bộ điều kiện rồi mới thêm lịch hẹn.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theo kiến trúc 3 tầng: trình duyệt, máy chủ ASP.NET và SQL Server. Mọi truy cập dữ liệu đi qua lớp DatabaseHelper với truy vấn có tham số. Mật khẩu được băm SHA-256, phân quyền bằng Session, mỗi trang tự kiểm tra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 chức năng của bệnh nhân: đăng ký tài khoản, đặt lịch hẹn và xem, hủy lịch của mình. Em xin demo trực tiếp trên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lễ tân và quản trị: quản lý, duyệt và tìm kiếm tương đối lịch hẹn; quản lý khung giờ, bác sĩ, chuyên khoa; và trang thống kê theo tháng, bác sĩ, chuyên khoa, trạng thái.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kiểm thử 19 kịch bản gồm cả dữ liệu hợp lệ và vi phạm ràng buộc; tất cả đều đạt. Bảng bên phải là một số kịch bản tiêu biểu như đặt trùng khung giờ, hủy quá hạn, truy cập trái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còn một số hạn chế như chưa có gửi email, khung giờ phải tạo thủ công, thống kê chưa xuất tệp. Hướng phát triển là bổ sung thông báo, tạo lịch hàng loạt và chuyển sang ASP.NET Core kèm Web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đồ án đã hoàn thành 11 chức năng, cơ sở dữ liệu chặt chẽ và kiểm thử đạt yêu cầu. Mã nguồn có trên GitHub. Em xin chân thành cảm ơn Quý Thầy Cô đã lắng nghe và rất mong nhận được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 de toi">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31920"/>
            <a:ext cx="10698480" cy="16459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 du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7315200" cy="320040"/>
          </a:xfrm>
          <a:prstGeom prst="rect">
            <a:avLst/>
          </a:prstGeom>
          <a:noFill/>
          <a:ln/>
        </p:spPr>
        <p:txBody>
          <a:bodyPr wrap="square" rtlCol="0" anchor="ctr"/>
          <a:lstStyle/>
          <a:p>
            <a:pPr indent="0" marL="0">
              <a:buNone/>
            </a:pPr>
            <a:r>
              <a:rPr lang="en-US" sz="1000" dirty="0">
                <a:solidFill>
                  <a:schemeClr val="accent5"/>
                </a:solidFill>
              </a:rPr>
              <a:t>Đồ án Chuyên đề ASP.NET – Tống Duy Khanh – VX23TTK12</a:t>
            </a:r>
            <a:endParaRPr lang="en-US" sz="10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80160"/>
            <a:ext cx="10698480" cy="457200"/>
          </a:xfrm>
          <a:prstGeom prst="rect">
            <a:avLst/>
          </a:prstGeom>
          <a:noFill/>
          <a:ln/>
        </p:spPr>
        <p:txBody>
          <a:bodyPr wrap="square" rtlCol="0" anchor="t"/>
          <a:lstStyle/>
          <a:p>
            <a:pPr indent="0" marL="0">
              <a:buNone/>
            </a:pPr>
            <a:r>
              <a:rPr lang="en-US" sz="1400" b="1" spc="100" kern="0" dirty="0">
                <a:solidFill>
                  <a:schemeClr val="accent2"/>
                </a:solidFill>
              </a:rPr>
              <a:t>ĐỒ ÁN HỌC PHẦN CHUYÊN ĐỀ ASP.NET  ·  TRƯỜNG KỸ THUẬT VÀ CÔNG NGHỆ – ĐẠI HỌC TRÀ VINH</a:t>
            </a:r>
            <a:endParaRPr lang="en-US" sz="1400" dirty="0"/>
          </a:p>
        </p:txBody>
      </p:sp>
      <p:sp>
        <p:nvSpPr>
          <p:cNvPr id="3" name="Text 0"/>
          <p:cNvSpPr/>
          <p:nvPr>
            <p:ph idx="100" type="title" hasCustomPrompt="1"/>
          </p:nvPr>
        </p:nvSpPr>
        <p:spPr>
          <a:xfrm>
            <a:off x="731520" y="2011680"/>
            <a:ext cx="10698480" cy="1737360"/>
          </a:xfrm>
          <a:prstGeom prst="rect">
            <a:avLst/>
          </a:prstGeom>
          <a:noFill/>
          <a:ln/>
        </p:spPr>
        <p:txBody>
          <a:bodyPr wrap="square" rtlCol="0" anchor="ctr"/>
          <a:lstStyle/>
          <a:p>
            <a:pPr algn="l" indent="0" marL="0">
              <a:buNone/>
            </a:pPr>
            <a:r>
              <a:rPr lang="en-US" sz="4000" b="1" dirty="0">
                <a:solidFill>
                  <a:schemeClr val="bg1"/>
                </a:solidFill>
              </a:rPr>
              <a:t>Xây dựng website đặt lịch hẹn khám bệnh ngoài giờ</a:t>
            </a:r>
            <a:endParaRPr lang="en-US" sz="4000" dirty="0"/>
          </a:p>
        </p:txBody>
      </p:sp>
      <p:sp>
        <p:nvSpPr>
          <p:cNvPr id="4" name="Text 0"/>
          <p:cNvSpPr/>
          <p:nvPr>
            <p:ph idx="101" type="body" hasCustomPrompt="1"/>
          </p:nvPr>
        </p:nvSpPr>
        <p:spPr>
          <a:xfrm>
            <a:off x="731520" y="3931920"/>
            <a:ext cx="10698480" cy="1645920"/>
          </a:xfrm>
          <a:prstGeom prst="rect">
            <a:avLst/>
          </a:prstGeom>
          <a:noFill/>
          <a:ln/>
        </p:spPr>
        <p:txBody>
          <a:bodyPr wrap="square" rtlCol="0" anchor="t"/>
          <a:lstStyle/>
          <a:p>
            <a:pPr indent="0" marL="0">
              <a:buNone/>
            </a:pPr>
            <a:r>
              <a:rPr lang="en-US" sz="1800" dirty="0">
                <a:solidFill>
                  <a:schemeClr val="bg2"/>
                </a:solidFill>
              </a:rPr>
              <a:t>Sinh viên: Tống Duy Khanh  ·  MSSV 470123159  ·  Lớp VX23TTK12</a:t>
            </a:r>
            <a:endParaRPr lang="en-US" sz="1800" dirty="0"/>
          </a:p>
          <a:p>
            <a:pPr indent="0" marL="0">
              <a:buNone/>
            </a:pPr>
            <a:r>
              <a:rPr lang="en-US" sz="1800" dirty="0">
                <a:solidFill>
                  <a:schemeClr val="bg2"/>
                </a:solidFill>
              </a:rPr>
              <a:t>Giảng viên hướng dẫn: ………………………</a:t>
            </a:r>
            <a:endParaRPr lang="en-US" sz="1800" dirty="0"/>
          </a:p>
        </p:txBody>
      </p:sp>
      <p:sp>
        <p:nvSpPr>
          <p:cNvPr id="5" name="icon-bg-cal"/>
          <p:cNvSpPr/>
          <p:nvPr/>
        </p:nvSpPr>
        <p:spPr>
          <a:xfrm>
            <a:off x="10332720" y="5120640"/>
            <a:ext cx="1097280" cy="1097280"/>
          </a:xfrm>
          <a:prstGeom prst="ellipse">
            <a:avLst/>
          </a:prstGeom>
          <a:solidFill>
            <a:schemeClr val="accent1"/>
          </a:solidFill>
          <a:ln w="12700">
            <a:solidFill>
              <a:schemeClr val="accent1"/>
            </a:solidFill>
            <a:prstDash val="solid"/>
          </a:ln>
        </p:spPr>
      </p:sp>
      <p:pic>
        <p:nvPicPr>
          <p:cNvPr id="6" name="icon-cal" descr="preencoded.png">    </p:cNvPr>
          <p:cNvPicPr>
            <a:picLocks noChangeAspect="1"/>
          </p:cNvPicPr>
          <p:nvPr/>
        </p:nvPicPr>
        <p:blipFill>
          <a:blip r:embed="rId1"/>
          <a:stretch>
            <a:fillRect/>
          </a:stretch>
        </p:blipFill>
        <p:spPr>
          <a:xfrm>
            <a:off x="10596067" y="5383987"/>
            <a:ext cx="570586" cy="570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Nội dung trình bày</a:t>
            </a:r>
            <a:endParaRPr lang="en-US" sz="3200" dirty="0"/>
          </a:p>
        </p:txBody>
      </p:sp>
      <p:sp>
        <p:nvSpPr>
          <p:cNvPr id="3" name="agenda-0"/>
          <p:cNvSpPr/>
          <p:nvPr/>
        </p:nvSpPr>
        <p:spPr>
          <a:xfrm>
            <a:off x="548640" y="1737360"/>
            <a:ext cx="2057400" cy="393192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731520" y="1965960"/>
            <a:ext cx="1737360" cy="914400"/>
          </a:xfrm>
          <a:prstGeom prst="rect">
            <a:avLst/>
          </a:prstGeom>
          <a:noFill/>
          <a:ln/>
        </p:spPr>
        <p:txBody>
          <a:bodyPr wrap="square"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01</a:t>
            </a:r>
            <a:endParaRPr lang="en-US" sz="4400" dirty="0"/>
          </a:p>
        </p:txBody>
      </p:sp>
      <p:sp>
        <p:nvSpPr>
          <p:cNvPr id="5" name="Text 3"/>
          <p:cNvSpPr txBox="1"/>
          <p:nvPr/>
        </p:nvSpPr>
        <p:spPr>
          <a:xfrm>
            <a:off x="731520" y="3108960"/>
            <a:ext cx="1737360" cy="1005840"/>
          </a:xfrm>
          <a:prstGeom prst="rect">
            <a:avLst/>
          </a:prstGeom>
          <a:noFill/>
          <a:ln/>
        </p:spPr>
        <p:txBody>
          <a:bodyPr wrap="square" rtlCol="0" anchor="t"/>
          <a:lstStyle/>
          <a:p>
            <a:pPr indent="0" marL="0">
              <a:buNone/>
            </a:pPr>
            <a:r>
              <a:rPr lang="en-US" sz="2000" b="1" dirty="0">
                <a:solidFill>
                  <a:schemeClr val="tx2"/>
                </a:solidFill>
              </a:rPr>
              <a:t>Giới thiệu đề tài</a:t>
            </a:r>
            <a:endParaRPr lang="en-US" sz="2000" dirty="0"/>
          </a:p>
        </p:txBody>
      </p:sp>
      <p:sp>
        <p:nvSpPr>
          <p:cNvPr id="6" name="Text 4"/>
          <p:cNvSpPr txBox="1"/>
          <p:nvPr/>
        </p:nvSpPr>
        <p:spPr>
          <a:xfrm>
            <a:off x="731520" y="4160520"/>
            <a:ext cx="1737360" cy="1280160"/>
          </a:xfrm>
          <a:prstGeom prst="rect">
            <a:avLst/>
          </a:prstGeom>
          <a:noFill/>
          <a:ln/>
        </p:spPr>
        <p:txBody>
          <a:bodyPr wrap="square" rtlCol="0" anchor="t"/>
          <a:lstStyle/>
          <a:p>
            <a:pPr indent="0" marL="0">
              <a:buNone/>
            </a:pPr>
            <a:r>
              <a:rPr lang="en-US" sz="1500" dirty="0">
                <a:solidFill>
                  <a:schemeClr val="accent5"/>
                </a:solidFill>
              </a:rPr>
              <a:t>Lý do, mục tiêu, phạm vi, công nghệ</a:t>
            </a:r>
            <a:endParaRPr lang="en-US" sz="1500" dirty="0"/>
          </a:p>
        </p:txBody>
      </p:sp>
      <p:sp>
        <p:nvSpPr>
          <p:cNvPr id="7" name="agenda-1"/>
          <p:cNvSpPr/>
          <p:nvPr/>
        </p:nvSpPr>
        <p:spPr>
          <a:xfrm>
            <a:off x="2816352" y="1737360"/>
            <a:ext cx="2057400" cy="393192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2999232" y="1965960"/>
            <a:ext cx="1737360" cy="914400"/>
          </a:xfrm>
          <a:prstGeom prst="rect">
            <a:avLst/>
          </a:prstGeom>
          <a:noFill/>
          <a:ln/>
        </p:spPr>
        <p:txBody>
          <a:bodyPr wrap="square"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02</a:t>
            </a:r>
            <a:endParaRPr lang="en-US" sz="4400" dirty="0"/>
          </a:p>
        </p:txBody>
      </p:sp>
      <p:sp>
        <p:nvSpPr>
          <p:cNvPr id="9" name="Text 7"/>
          <p:cNvSpPr txBox="1"/>
          <p:nvPr/>
        </p:nvSpPr>
        <p:spPr>
          <a:xfrm>
            <a:off x="2999232" y="3108960"/>
            <a:ext cx="1737360" cy="1005840"/>
          </a:xfrm>
          <a:prstGeom prst="rect">
            <a:avLst/>
          </a:prstGeom>
          <a:noFill/>
          <a:ln/>
        </p:spPr>
        <p:txBody>
          <a:bodyPr wrap="square" rtlCol="0" anchor="t"/>
          <a:lstStyle/>
          <a:p>
            <a:pPr indent="0" marL="0">
              <a:buNone/>
            </a:pPr>
            <a:r>
              <a:rPr lang="en-US" sz="2000" b="1" dirty="0">
                <a:solidFill>
                  <a:schemeClr val="tx2"/>
                </a:solidFill>
              </a:rPr>
              <a:t>Phân tích và thiết kế</a:t>
            </a:r>
            <a:endParaRPr lang="en-US" sz="2000" dirty="0"/>
          </a:p>
        </p:txBody>
      </p:sp>
      <p:sp>
        <p:nvSpPr>
          <p:cNvPr id="10" name="Text 8"/>
          <p:cNvSpPr txBox="1"/>
          <p:nvPr/>
        </p:nvSpPr>
        <p:spPr>
          <a:xfrm>
            <a:off x="2999232" y="4160520"/>
            <a:ext cx="1737360" cy="1280160"/>
          </a:xfrm>
          <a:prstGeom prst="rect">
            <a:avLst/>
          </a:prstGeom>
          <a:noFill/>
          <a:ln/>
        </p:spPr>
        <p:txBody>
          <a:bodyPr wrap="square" rtlCol="0" anchor="t"/>
          <a:lstStyle/>
          <a:p>
            <a:pPr indent="0" marL="0">
              <a:buNone/>
            </a:pPr>
            <a:r>
              <a:rPr lang="en-US" sz="1500" dirty="0">
                <a:solidFill>
                  <a:schemeClr val="accent5"/>
                </a:solidFill>
              </a:rPr>
              <a:t>Use case, CSDL, quy tắc nghiệp vụ</a:t>
            </a:r>
            <a:endParaRPr lang="en-US" sz="1500" dirty="0"/>
          </a:p>
        </p:txBody>
      </p:sp>
      <p:sp>
        <p:nvSpPr>
          <p:cNvPr id="11" name="agenda-2"/>
          <p:cNvSpPr/>
          <p:nvPr/>
        </p:nvSpPr>
        <p:spPr>
          <a:xfrm>
            <a:off x="5084064" y="1737360"/>
            <a:ext cx="2057400" cy="3931920"/>
          </a:xfrm>
          <a:prstGeom prst="roundRect">
            <a:avLst>
              <a:gd name="adj" fmla="val 5333"/>
            </a:avLst>
          </a:prstGeom>
          <a:solidFill>
            <a:schemeClr val="bg2"/>
          </a:solidFill>
          <a:ln w="12700">
            <a:solidFill>
              <a:schemeClr val="bg2"/>
            </a:solidFill>
            <a:prstDash val="solid"/>
          </a:ln>
        </p:spPr>
      </p:sp>
      <p:sp>
        <p:nvSpPr>
          <p:cNvPr id="12" name="Text 10"/>
          <p:cNvSpPr txBox="1"/>
          <p:nvPr/>
        </p:nvSpPr>
        <p:spPr>
          <a:xfrm>
            <a:off x="5266944" y="1965960"/>
            <a:ext cx="1737360" cy="914400"/>
          </a:xfrm>
          <a:prstGeom prst="rect">
            <a:avLst/>
          </a:prstGeom>
          <a:noFill/>
          <a:ln/>
        </p:spPr>
        <p:txBody>
          <a:bodyPr wrap="square"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03</a:t>
            </a:r>
            <a:endParaRPr lang="en-US" sz="4400" dirty="0"/>
          </a:p>
        </p:txBody>
      </p:sp>
      <p:sp>
        <p:nvSpPr>
          <p:cNvPr id="13" name="Text 11"/>
          <p:cNvSpPr txBox="1"/>
          <p:nvPr/>
        </p:nvSpPr>
        <p:spPr>
          <a:xfrm>
            <a:off x="5266944" y="3108960"/>
            <a:ext cx="1737360" cy="1005840"/>
          </a:xfrm>
          <a:prstGeom prst="rect">
            <a:avLst/>
          </a:prstGeom>
          <a:noFill/>
          <a:ln/>
        </p:spPr>
        <p:txBody>
          <a:bodyPr wrap="square" rtlCol="0" anchor="t"/>
          <a:lstStyle/>
          <a:p>
            <a:pPr indent="0" marL="0">
              <a:buNone/>
            </a:pPr>
            <a:r>
              <a:rPr lang="en-US" sz="2000" b="1" dirty="0">
                <a:solidFill>
                  <a:schemeClr val="tx2"/>
                </a:solidFill>
              </a:rPr>
              <a:t>Cài đặt và triển khai</a:t>
            </a:r>
            <a:endParaRPr lang="en-US" sz="2000" dirty="0"/>
          </a:p>
        </p:txBody>
      </p:sp>
      <p:sp>
        <p:nvSpPr>
          <p:cNvPr id="14" name="Text 12"/>
          <p:cNvSpPr txBox="1"/>
          <p:nvPr/>
        </p:nvSpPr>
        <p:spPr>
          <a:xfrm>
            <a:off x="5266944" y="4160520"/>
            <a:ext cx="1737360" cy="1280160"/>
          </a:xfrm>
          <a:prstGeom prst="rect">
            <a:avLst/>
          </a:prstGeom>
          <a:noFill/>
          <a:ln/>
        </p:spPr>
        <p:txBody>
          <a:bodyPr wrap="square" rtlCol="0" anchor="t"/>
          <a:lstStyle/>
          <a:p>
            <a:pPr indent="0" marL="0">
              <a:buNone/>
            </a:pPr>
            <a:r>
              <a:rPr lang="en-US" sz="1500" dirty="0">
                <a:solidFill>
                  <a:schemeClr val="accent5"/>
                </a:solidFill>
              </a:rPr>
              <a:t>Kiến trúc 3 tầng, các module chính</a:t>
            </a:r>
            <a:endParaRPr lang="en-US" sz="1500" dirty="0"/>
          </a:p>
        </p:txBody>
      </p:sp>
      <p:sp>
        <p:nvSpPr>
          <p:cNvPr id="15" name="agenda-3"/>
          <p:cNvSpPr/>
          <p:nvPr/>
        </p:nvSpPr>
        <p:spPr>
          <a:xfrm>
            <a:off x="7351776" y="1737360"/>
            <a:ext cx="2057400" cy="3931920"/>
          </a:xfrm>
          <a:prstGeom prst="roundRect">
            <a:avLst>
              <a:gd name="adj" fmla="val 5333"/>
            </a:avLst>
          </a:prstGeom>
          <a:solidFill>
            <a:schemeClr val="bg2"/>
          </a:solidFill>
          <a:ln w="12700">
            <a:solidFill>
              <a:schemeClr val="bg2"/>
            </a:solidFill>
            <a:prstDash val="solid"/>
          </a:ln>
        </p:spPr>
      </p:sp>
      <p:sp>
        <p:nvSpPr>
          <p:cNvPr id="16" name="Text 14"/>
          <p:cNvSpPr txBox="1"/>
          <p:nvPr/>
        </p:nvSpPr>
        <p:spPr>
          <a:xfrm>
            <a:off x="7534656" y="1965960"/>
            <a:ext cx="1737360" cy="914400"/>
          </a:xfrm>
          <a:prstGeom prst="rect">
            <a:avLst/>
          </a:prstGeom>
          <a:noFill/>
          <a:ln/>
        </p:spPr>
        <p:txBody>
          <a:bodyPr wrap="square"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04</a:t>
            </a:r>
            <a:endParaRPr lang="en-US" sz="4400" dirty="0"/>
          </a:p>
        </p:txBody>
      </p:sp>
      <p:sp>
        <p:nvSpPr>
          <p:cNvPr id="17" name="Text 15"/>
          <p:cNvSpPr txBox="1"/>
          <p:nvPr/>
        </p:nvSpPr>
        <p:spPr>
          <a:xfrm>
            <a:off x="7534656" y="3108960"/>
            <a:ext cx="1737360" cy="1005840"/>
          </a:xfrm>
          <a:prstGeom prst="rect">
            <a:avLst/>
          </a:prstGeom>
          <a:noFill/>
          <a:ln/>
        </p:spPr>
        <p:txBody>
          <a:bodyPr wrap="square" rtlCol="0" anchor="t"/>
          <a:lstStyle/>
          <a:p>
            <a:pPr indent="0" marL="0">
              <a:buNone/>
            </a:pPr>
            <a:r>
              <a:rPr lang="en-US" sz="2000" b="1" dirty="0">
                <a:solidFill>
                  <a:schemeClr val="tx2"/>
                </a:solidFill>
              </a:rPr>
              <a:t>Demo kết quả</a:t>
            </a:r>
            <a:endParaRPr lang="en-US" sz="2000" dirty="0"/>
          </a:p>
        </p:txBody>
      </p:sp>
      <p:sp>
        <p:nvSpPr>
          <p:cNvPr id="18" name="Text 16"/>
          <p:cNvSpPr txBox="1"/>
          <p:nvPr/>
        </p:nvSpPr>
        <p:spPr>
          <a:xfrm>
            <a:off x="7534656" y="4160520"/>
            <a:ext cx="1737360" cy="1280160"/>
          </a:xfrm>
          <a:prstGeom prst="rect">
            <a:avLst/>
          </a:prstGeom>
          <a:noFill/>
          <a:ln/>
        </p:spPr>
        <p:txBody>
          <a:bodyPr wrap="square" rtlCol="0" anchor="t"/>
          <a:lstStyle/>
          <a:p>
            <a:pPr indent="0" marL="0">
              <a:buNone/>
            </a:pPr>
            <a:r>
              <a:rPr lang="en-US" sz="1500" dirty="0">
                <a:solidFill>
                  <a:schemeClr val="accent5"/>
                </a:solidFill>
              </a:rPr>
              <a:t>Giao diện bệnh nhân và quản trị</a:t>
            </a:r>
            <a:endParaRPr lang="en-US" sz="1500" dirty="0"/>
          </a:p>
        </p:txBody>
      </p:sp>
      <p:sp>
        <p:nvSpPr>
          <p:cNvPr id="19" name="agenda-4"/>
          <p:cNvSpPr/>
          <p:nvPr/>
        </p:nvSpPr>
        <p:spPr>
          <a:xfrm>
            <a:off x="9619488" y="1737360"/>
            <a:ext cx="2057400" cy="3931920"/>
          </a:xfrm>
          <a:prstGeom prst="roundRect">
            <a:avLst>
              <a:gd name="adj" fmla="val 5333"/>
            </a:avLst>
          </a:prstGeom>
          <a:solidFill>
            <a:schemeClr val="bg2"/>
          </a:solidFill>
          <a:ln w="12700">
            <a:solidFill>
              <a:schemeClr val="bg2"/>
            </a:solidFill>
            <a:prstDash val="solid"/>
          </a:ln>
        </p:spPr>
      </p:sp>
      <p:sp>
        <p:nvSpPr>
          <p:cNvPr id="20" name="Text 18"/>
          <p:cNvSpPr txBox="1"/>
          <p:nvPr/>
        </p:nvSpPr>
        <p:spPr>
          <a:xfrm>
            <a:off x="9802368" y="1965960"/>
            <a:ext cx="1737360" cy="914400"/>
          </a:xfrm>
          <a:prstGeom prst="rect">
            <a:avLst/>
          </a:prstGeom>
          <a:noFill/>
          <a:ln/>
        </p:spPr>
        <p:txBody>
          <a:bodyPr wrap="square"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05</a:t>
            </a:r>
            <a:endParaRPr lang="en-US" sz="4400" dirty="0"/>
          </a:p>
        </p:txBody>
      </p:sp>
      <p:sp>
        <p:nvSpPr>
          <p:cNvPr id="21" name="Text 19"/>
          <p:cNvSpPr txBox="1"/>
          <p:nvPr/>
        </p:nvSpPr>
        <p:spPr>
          <a:xfrm>
            <a:off x="9802368" y="3108960"/>
            <a:ext cx="1737360" cy="1005840"/>
          </a:xfrm>
          <a:prstGeom prst="rect">
            <a:avLst/>
          </a:prstGeom>
          <a:noFill/>
          <a:ln/>
        </p:spPr>
        <p:txBody>
          <a:bodyPr wrap="square" rtlCol="0" anchor="t"/>
          <a:lstStyle/>
          <a:p>
            <a:pPr indent="0" marL="0">
              <a:buNone/>
            </a:pPr>
            <a:r>
              <a:rPr lang="en-US" sz="2000" b="1" dirty="0">
                <a:solidFill>
                  <a:schemeClr val="tx2"/>
                </a:solidFill>
              </a:rPr>
              <a:t>Đánh giá, kết luận</a:t>
            </a:r>
            <a:endParaRPr lang="en-US" sz="2000" dirty="0"/>
          </a:p>
        </p:txBody>
      </p:sp>
      <p:sp>
        <p:nvSpPr>
          <p:cNvPr id="22" name="Text 20"/>
          <p:cNvSpPr txBox="1"/>
          <p:nvPr/>
        </p:nvSpPr>
        <p:spPr>
          <a:xfrm>
            <a:off x="9802368" y="4160520"/>
            <a:ext cx="1737360" cy="1280160"/>
          </a:xfrm>
          <a:prstGeom prst="rect">
            <a:avLst/>
          </a:prstGeom>
          <a:noFill/>
          <a:ln/>
        </p:spPr>
        <p:txBody>
          <a:bodyPr wrap="square" rtlCol="0" anchor="t"/>
          <a:lstStyle/>
          <a:p>
            <a:pPr indent="0" marL="0">
              <a:buNone/>
            </a:pPr>
            <a:r>
              <a:rPr lang="en-US" sz="1500" dirty="0">
                <a:solidFill>
                  <a:schemeClr val="accent5"/>
                </a:solidFill>
              </a:rPr>
              <a:t>Kiểm thử, hạn chế, hướng phát triển</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Đặt lịch khám ngoài giờ vẫn làm thủ công</a:t>
            </a:r>
            <a:endParaRPr lang="en-US" sz="3200" dirty="0"/>
          </a:p>
        </p:txBody>
      </p:sp>
      <p:sp>
        <p:nvSpPr>
          <p:cNvPr id="3" name="col-van-de"/>
          <p:cNvSpPr/>
          <p:nvPr/>
        </p:nvSpPr>
        <p:spPr>
          <a:xfrm>
            <a:off x="548640" y="1463040"/>
            <a:ext cx="5394960" cy="4480560"/>
          </a:xfrm>
          <a:prstGeom prst="roundRect">
            <a:avLst>
              <a:gd name="adj" fmla="val 2449"/>
            </a:avLst>
          </a:prstGeom>
          <a:solidFill>
            <a:schemeClr val="bg2"/>
          </a:solidFill>
          <a:ln w="12700">
            <a:solidFill>
              <a:schemeClr val="bg2"/>
            </a:solidFill>
            <a:prstDash val="solid"/>
          </a:ln>
        </p:spPr>
      </p:sp>
      <p:sp>
        <p:nvSpPr>
          <p:cNvPr id="4" name="Text 2"/>
          <p:cNvSpPr txBox="1"/>
          <p:nvPr/>
        </p:nvSpPr>
        <p:spPr>
          <a:xfrm>
            <a:off x="822960" y="1645920"/>
            <a:ext cx="4846320" cy="457200"/>
          </a:xfrm>
          <a:prstGeom prst="rect">
            <a:avLst/>
          </a:prstGeom>
          <a:noFill/>
          <a:ln/>
        </p:spPr>
        <p:txBody>
          <a:bodyPr wrap="square" rtlCol="0" anchor="t"/>
          <a:lstStyle/>
          <a:p>
            <a:pPr indent="0" marL="0">
              <a:buNone/>
            </a:pPr>
            <a:r>
              <a:rPr lang="en-US" sz="2200" b="1" dirty="0">
                <a:solidFill>
                  <a:schemeClr val="accent3"/>
                </a:solidFill>
              </a:rPr>
              <a:t>Thực trạng</a:t>
            </a:r>
            <a:endParaRPr lang="en-US" sz="2200" dirty="0"/>
          </a:p>
        </p:txBody>
      </p:sp>
      <p:sp>
        <p:nvSpPr>
          <p:cNvPr id="5" name="icon-bg-phone"/>
          <p:cNvSpPr/>
          <p:nvPr/>
        </p:nvSpPr>
        <p:spPr>
          <a:xfrm>
            <a:off x="822960" y="2331720"/>
            <a:ext cx="594360" cy="594360"/>
          </a:xfrm>
          <a:prstGeom prst="ellipse">
            <a:avLst/>
          </a:prstGeom>
          <a:solidFill>
            <a:schemeClr val="accent3"/>
          </a:solidFill>
          <a:ln w="12700">
            <a:solidFill>
              <a:schemeClr val="accent3"/>
            </a:solidFill>
            <a:prstDash val="solid"/>
          </a:ln>
        </p:spPr>
      </p:sp>
      <p:pic>
        <p:nvPicPr>
          <p:cNvPr id="6" name="icon-phone" descr="preencoded.png">    </p:cNvPr>
          <p:cNvPicPr>
            <a:picLocks noChangeAspect="1"/>
          </p:cNvPicPr>
          <p:nvPr/>
        </p:nvPicPr>
        <p:blipFill>
          <a:blip r:embed="rId1"/>
          <a:stretch>
            <a:fillRect/>
          </a:stretch>
        </p:blipFill>
        <p:spPr>
          <a:xfrm>
            <a:off x="965606" y="2474366"/>
            <a:ext cx="309067" cy="309067"/>
          </a:xfrm>
          <a:prstGeom prst="rect">
            <a:avLst/>
          </a:prstGeom>
        </p:spPr>
      </p:pic>
      <p:sp>
        <p:nvSpPr>
          <p:cNvPr id="7" name="Text 4"/>
          <p:cNvSpPr txBox="1"/>
          <p:nvPr/>
        </p:nvSpPr>
        <p:spPr>
          <a:xfrm>
            <a:off x="1600200" y="2377440"/>
            <a:ext cx="4206240" cy="548640"/>
          </a:xfrm>
          <a:prstGeom prst="rect">
            <a:avLst/>
          </a:prstGeom>
          <a:noFill/>
          <a:ln/>
        </p:spPr>
        <p:txBody>
          <a:bodyPr wrap="square" rtlCol="0" anchor="ctr"/>
          <a:lstStyle/>
          <a:p>
            <a:pPr indent="0" marL="0">
              <a:buNone/>
            </a:pPr>
            <a:r>
              <a:rPr lang="en-US" sz="1700" dirty="0">
                <a:solidFill>
                  <a:schemeClr val="tx1"/>
                </a:solidFill>
              </a:rPr>
              <a:t>Đặt hẹn qua điện thoại, ghi sổ tay</a:t>
            </a:r>
            <a:endParaRPr lang="en-US" sz="1700" dirty="0"/>
          </a:p>
        </p:txBody>
      </p:sp>
      <p:sp>
        <p:nvSpPr>
          <p:cNvPr id="8" name="icon-bg-clock"/>
          <p:cNvSpPr/>
          <p:nvPr/>
        </p:nvSpPr>
        <p:spPr>
          <a:xfrm>
            <a:off x="822960" y="3200400"/>
            <a:ext cx="594360" cy="594360"/>
          </a:xfrm>
          <a:prstGeom prst="ellipse">
            <a:avLst/>
          </a:prstGeom>
          <a:solidFill>
            <a:schemeClr val="accent3"/>
          </a:solidFill>
          <a:ln w="12700">
            <a:solidFill>
              <a:schemeClr val="accent3"/>
            </a:solidFill>
            <a:prstDash val="solid"/>
          </a:ln>
        </p:spPr>
      </p:sp>
      <p:pic>
        <p:nvPicPr>
          <p:cNvPr id="9" name="icon-clock" descr="preencoded.png">    </p:cNvPr>
          <p:cNvPicPr>
            <a:picLocks noChangeAspect="1"/>
          </p:cNvPicPr>
          <p:nvPr/>
        </p:nvPicPr>
        <p:blipFill>
          <a:blip r:embed="rId2"/>
          <a:stretch>
            <a:fillRect/>
          </a:stretch>
        </p:blipFill>
        <p:spPr>
          <a:xfrm>
            <a:off x="965606" y="3343046"/>
            <a:ext cx="309067" cy="309067"/>
          </a:xfrm>
          <a:prstGeom prst="rect">
            <a:avLst/>
          </a:prstGeom>
        </p:spPr>
      </p:pic>
      <p:sp>
        <p:nvSpPr>
          <p:cNvPr id="10" name="Text 6"/>
          <p:cNvSpPr txBox="1"/>
          <p:nvPr/>
        </p:nvSpPr>
        <p:spPr>
          <a:xfrm>
            <a:off x="1600200" y="3246120"/>
            <a:ext cx="4206240" cy="548640"/>
          </a:xfrm>
          <a:prstGeom prst="rect">
            <a:avLst/>
          </a:prstGeom>
          <a:noFill/>
          <a:ln/>
        </p:spPr>
        <p:txBody>
          <a:bodyPr wrap="square" rtlCol="0" anchor="ctr"/>
          <a:lstStyle/>
          <a:p>
            <a:pPr indent="0" marL="0">
              <a:buNone/>
            </a:pPr>
            <a:r>
              <a:rPr lang="en-US" sz="1700" dirty="0">
                <a:solidFill>
                  <a:schemeClr val="tx1"/>
                </a:solidFill>
              </a:rPr>
              <a:t>Người bệnh không biết khung giờ trống, chờ lâu</a:t>
            </a:r>
            <a:endParaRPr lang="en-US" sz="1700" dirty="0"/>
          </a:p>
        </p:txBody>
      </p:sp>
      <p:sp>
        <p:nvSpPr>
          <p:cNvPr id="11" name="icon-bg-warn"/>
          <p:cNvSpPr/>
          <p:nvPr/>
        </p:nvSpPr>
        <p:spPr>
          <a:xfrm>
            <a:off x="822960" y="4069080"/>
            <a:ext cx="594360" cy="594360"/>
          </a:xfrm>
          <a:prstGeom prst="ellipse">
            <a:avLst/>
          </a:prstGeom>
          <a:solidFill>
            <a:schemeClr val="accent3"/>
          </a:solidFill>
          <a:ln w="12700">
            <a:solidFill>
              <a:schemeClr val="accent3"/>
            </a:solidFill>
            <a:prstDash val="solid"/>
          </a:ln>
        </p:spPr>
      </p:sp>
      <p:pic>
        <p:nvPicPr>
          <p:cNvPr id="12" name="icon-warn" descr="preencoded.png">    </p:cNvPr>
          <p:cNvPicPr>
            <a:picLocks noChangeAspect="1"/>
          </p:cNvPicPr>
          <p:nvPr/>
        </p:nvPicPr>
        <p:blipFill>
          <a:blip r:embed="rId3"/>
          <a:stretch>
            <a:fillRect/>
          </a:stretch>
        </p:blipFill>
        <p:spPr>
          <a:xfrm>
            <a:off x="965606" y="4211726"/>
            <a:ext cx="309067" cy="309067"/>
          </a:xfrm>
          <a:prstGeom prst="rect">
            <a:avLst/>
          </a:prstGeom>
        </p:spPr>
      </p:pic>
      <p:sp>
        <p:nvSpPr>
          <p:cNvPr id="13" name="Text 8"/>
          <p:cNvSpPr txBox="1"/>
          <p:nvPr/>
        </p:nvSpPr>
        <p:spPr>
          <a:xfrm>
            <a:off x="1600200" y="4114800"/>
            <a:ext cx="4206240" cy="548640"/>
          </a:xfrm>
          <a:prstGeom prst="rect">
            <a:avLst/>
          </a:prstGeom>
          <a:noFill/>
          <a:ln/>
        </p:spPr>
        <p:txBody>
          <a:bodyPr wrap="square" rtlCol="0" anchor="ctr"/>
          <a:lstStyle/>
          <a:p>
            <a:pPr indent="0" marL="0">
              <a:buNone/>
            </a:pPr>
            <a:r>
              <a:rPr lang="en-US" sz="1700" dirty="0">
                <a:solidFill>
                  <a:schemeClr val="tx1"/>
                </a:solidFill>
              </a:rPr>
              <a:t>Dễ ghi trùng lịch, khó tra cứu</a:t>
            </a:r>
            <a:endParaRPr lang="en-US" sz="1700" dirty="0"/>
          </a:p>
        </p:txBody>
      </p:sp>
      <p:sp>
        <p:nvSpPr>
          <p:cNvPr id="14" name="icon-bg-chart"/>
          <p:cNvSpPr/>
          <p:nvPr/>
        </p:nvSpPr>
        <p:spPr>
          <a:xfrm>
            <a:off x="822960" y="4937760"/>
            <a:ext cx="594360" cy="594360"/>
          </a:xfrm>
          <a:prstGeom prst="ellipse">
            <a:avLst/>
          </a:prstGeom>
          <a:solidFill>
            <a:schemeClr val="accent3"/>
          </a:solidFill>
          <a:ln w="12700">
            <a:solidFill>
              <a:schemeClr val="accent3"/>
            </a:solidFill>
            <a:prstDash val="solid"/>
          </a:ln>
        </p:spPr>
      </p:sp>
      <p:pic>
        <p:nvPicPr>
          <p:cNvPr id="15" name="icon-chart" descr="preencoded.png">    </p:cNvPr>
          <p:cNvPicPr>
            <a:picLocks noChangeAspect="1"/>
          </p:cNvPicPr>
          <p:nvPr/>
        </p:nvPicPr>
        <p:blipFill>
          <a:blip r:embed="rId4"/>
          <a:stretch>
            <a:fillRect/>
          </a:stretch>
        </p:blipFill>
        <p:spPr>
          <a:xfrm>
            <a:off x="965606" y="5080406"/>
            <a:ext cx="309067" cy="309067"/>
          </a:xfrm>
          <a:prstGeom prst="rect">
            <a:avLst/>
          </a:prstGeom>
        </p:spPr>
      </p:pic>
      <p:sp>
        <p:nvSpPr>
          <p:cNvPr id="16" name="Text 10"/>
          <p:cNvSpPr txBox="1"/>
          <p:nvPr/>
        </p:nvSpPr>
        <p:spPr>
          <a:xfrm>
            <a:off x="1600200" y="4983480"/>
            <a:ext cx="4206240" cy="548640"/>
          </a:xfrm>
          <a:prstGeom prst="rect">
            <a:avLst/>
          </a:prstGeom>
          <a:noFill/>
          <a:ln/>
        </p:spPr>
        <p:txBody>
          <a:bodyPr wrap="square" rtlCol="0" anchor="ctr"/>
          <a:lstStyle/>
          <a:p>
            <a:pPr indent="0" marL="0">
              <a:buNone/>
            </a:pPr>
            <a:r>
              <a:rPr lang="en-US" sz="1700" dirty="0">
                <a:solidFill>
                  <a:schemeClr val="tx1"/>
                </a:solidFill>
              </a:rPr>
              <a:t>Quản lý thiếu số liệu thống kê</a:t>
            </a:r>
            <a:endParaRPr lang="en-US" sz="1700" dirty="0"/>
          </a:p>
        </p:txBody>
      </p:sp>
      <p:sp>
        <p:nvSpPr>
          <p:cNvPr id="17" name="col-giai-phap"/>
          <p:cNvSpPr/>
          <p:nvPr/>
        </p:nvSpPr>
        <p:spPr>
          <a:xfrm>
            <a:off x="6263640" y="1463040"/>
            <a:ext cx="5394960" cy="4480560"/>
          </a:xfrm>
          <a:prstGeom prst="roundRect">
            <a:avLst>
              <a:gd name="adj" fmla="val 2449"/>
            </a:avLst>
          </a:prstGeom>
          <a:solidFill>
            <a:schemeClr val="accent1"/>
          </a:solidFill>
          <a:ln w="12700">
            <a:solidFill>
              <a:schemeClr val="accent1"/>
            </a:solidFill>
            <a:prstDash val="solid"/>
          </a:ln>
        </p:spPr>
      </p:sp>
      <p:sp>
        <p:nvSpPr>
          <p:cNvPr id="18" name="Text 12"/>
          <p:cNvSpPr txBox="1"/>
          <p:nvPr/>
        </p:nvSpPr>
        <p:spPr>
          <a:xfrm>
            <a:off x="6537960" y="1645920"/>
            <a:ext cx="4846320" cy="457200"/>
          </a:xfrm>
          <a:prstGeom prst="rect">
            <a:avLst/>
          </a:prstGeom>
          <a:noFill/>
          <a:ln/>
        </p:spPr>
        <p:txBody>
          <a:bodyPr wrap="square" rtlCol="0" anchor="t"/>
          <a:lstStyle/>
          <a:p>
            <a:pPr indent="0" marL="0">
              <a:buNone/>
            </a:pPr>
            <a:r>
              <a:rPr lang="en-US" sz="2200" b="1" dirty="0">
                <a:solidFill>
                  <a:schemeClr val="bg1"/>
                </a:solidFill>
              </a:rPr>
              <a:t>Giải pháp của đề tài</a:t>
            </a:r>
            <a:endParaRPr lang="en-US" sz="2200" dirty="0"/>
          </a:p>
        </p:txBody>
      </p:sp>
      <p:sp>
        <p:nvSpPr>
          <p:cNvPr id="19" name="icon-bg-cal"/>
          <p:cNvSpPr/>
          <p:nvPr/>
        </p:nvSpPr>
        <p:spPr>
          <a:xfrm>
            <a:off x="6537960" y="2331720"/>
            <a:ext cx="594360" cy="594360"/>
          </a:xfrm>
          <a:prstGeom prst="ellipse">
            <a:avLst/>
          </a:prstGeom>
          <a:solidFill>
            <a:schemeClr val="tx2"/>
          </a:solidFill>
          <a:ln w="12700">
            <a:solidFill>
              <a:schemeClr val="tx2"/>
            </a:solidFill>
            <a:prstDash val="solid"/>
          </a:ln>
        </p:spPr>
      </p:sp>
      <p:pic>
        <p:nvPicPr>
          <p:cNvPr id="20" name="icon-cal" descr="preencoded.png">    </p:cNvPr>
          <p:cNvPicPr>
            <a:picLocks noChangeAspect="1"/>
          </p:cNvPicPr>
          <p:nvPr/>
        </p:nvPicPr>
        <p:blipFill>
          <a:blip r:embed="rId5"/>
          <a:stretch>
            <a:fillRect/>
          </a:stretch>
        </p:blipFill>
        <p:spPr>
          <a:xfrm>
            <a:off x="6680606" y="2474366"/>
            <a:ext cx="309067" cy="309067"/>
          </a:xfrm>
          <a:prstGeom prst="rect">
            <a:avLst/>
          </a:prstGeom>
        </p:spPr>
      </p:pic>
      <p:sp>
        <p:nvSpPr>
          <p:cNvPr id="21" name="Text 14"/>
          <p:cNvSpPr txBox="1"/>
          <p:nvPr/>
        </p:nvSpPr>
        <p:spPr>
          <a:xfrm>
            <a:off x="7315200" y="2377440"/>
            <a:ext cx="4206240" cy="548640"/>
          </a:xfrm>
          <a:prstGeom prst="rect">
            <a:avLst/>
          </a:prstGeom>
          <a:noFill/>
          <a:ln/>
        </p:spPr>
        <p:txBody>
          <a:bodyPr wrap="square" rtlCol="0" anchor="ctr"/>
          <a:lstStyle/>
          <a:p>
            <a:pPr indent="0" marL="0">
              <a:buNone/>
            </a:pPr>
            <a:r>
              <a:rPr lang="en-US" sz="1700" dirty="0">
                <a:solidFill>
                  <a:schemeClr val="bg1"/>
                </a:solidFill>
              </a:rPr>
              <a:t>Bệnh nhân tự đặt lịch trực tuyến 24/7</a:t>
            </a:r>
            <a:endParaRPr lang="en-US" sz="1700" dirty="0"/>
          </a:p>
        </p:txBody>
      </p:sp>
      <p:sp>
        <p:nvSpPr>
          <p:cNvPr id="22" name="icon-bg-check"/>
          <p:cNvSpPr/>
          <p:nvPr/>
        </p:nvSpPr>
        <p:spPr>
          <a:xfrm>
            <a:off x="6537960" y="3200400"/>
            <a:ext cx="594360" cy="594360"/>
          </a:xfrm>
          <a:prstGeom prst="ellipse">
            <a:avLst/>
          </a:prstGeom>
          <a:solidFill>
            <a:schemeClr val="tx2"/>
          </a:solidFill>
          <a:ln w="12700">
            <a:solidFill>
              <a:schemeClr val="tx2"/>
            </a:solidFill>
            <a:prstDash val="solid"/>
          </a:ln>
        </p:spPr>
      </p:sp>
      <p:pic>
        <p:nvPicPr>
          <p:cNvPr id="23" name="icon-check" descr="preencoded.png">    </p:cNvPr>
          <p:cNvPicPr>
            <a:picLocks noChangeAspect="1"/>
          </p:cNvPicPr>
          <p:nvPr/>
        </p:nvPicPr>
        <p:blipFill>
          <a:blip r:embed="rId6"/>
          <a:stretch>
            <a:fillRect/>
          </a:stretch>
        </p:blipFill>
        <p:spPr>
          <a:xfrm>
            <a:off x="6680606" y="3343046"/>
            <a:ext cx="309067" cy="309067"/>
          </a:xfrm>
          <a:prstGeom prst="rect">
            <a:avLst/>
          </a:prstGeom>
        </p:spPr>
      </p:pic>
      <p:sp>
        <p:nvSpPr>
          <p:cNvPr id="24" name="Text 16"/>
          <p:cNvSpPr txBox="1"/>
          <p:nvPr/>
        </p:nvSpPr>
        <p:spPr>
          <a:xfrm>
            <a:off x="7315200" y="3246120"/>
            <a:ext cx="4206240" cy="548640"/>
          </a:xfrm>
          <a:prstGeom prst="rect">
            <a:avLst/>
          </a:prstGeom>
          <a:noFill/>
          <a:ln/>
        </p:spPr>
        <p:txBody>
          <a:bodyPr wrap="square" rtlCol="0" anchor="ctr"/>
          <a:lstStyle/>
          <a:p>
            <a:pPr indent="0" marL="0">
              <a:buNone/>
            </a:pPr>
            <a:r>
              <a:rPr lang="en-US" sz="1700" dirty="0">
                <a:solidFill>
                  <a:schemeClr val="bg1"/>
                </a:solidFill>
              </a:rPr>
              <a:t>Chỉ hiện khung giờ còn trống, chống trùng</a:t>
            </a:r>
            <a:endParaRPr lang="en-US" sz="1700" dirty="0"/>
          </a:p>
        </p:txBody>
      </p:sp>
      <p:sp>
        <p:nvSpPr>
          <p:cNvPr id="25" name="icon-bg-desk"/>
          <p:cNvSpPr/>
          <p:nvPr/>
        </p:nvSpPr>
        <p:spPr>
          <a:xfrm>
            <a:off x="6537960" y="4069080"/>
            <a:ext cx="594360" cy="594360"/>
          </a:xfrm>
          <a:prstGeom prst="ellipse">
            <a:avLst/>
          </a:prstGeom>
          <a:solidFill>
            <a:schemeClr val="tx2"/>
          </a:solidFill>
          <a:ln w="12700">
            <a:solidFill>
              <a:schemeClr val="tx2"/>
            </a:solidFill>
            <a:prstDash val="solid"/>
          </a:ln>
        </p:spPr>
      </p:sp>
      <p:pic>
        <p:nvPicPr>
          <p:cNvPr id="26" name="icon-desk" descr="preencoded.png">    </p:cNvPr>
          <p:cNvPicPr>
            <a:picLocks noChangeAspect="1"/>
          </p:cNvPicPr>
          <p:nvPr/>
        </p:nvPicPr>
        <p:blipFill>
          <a:blip r:embed="rId7"/>
          <a:stretch>
            <a:fillRect/>
          </a:stretch>
        </p:blipFill>
        <p:spPr>
          <a:xfrm>
            <a:off x="6680606" y="4211726"/>
            <a:ext cx="309067" cy="309067"/>
          </a:xfrm>
          <a:prstGeom prst="rect">
            <a:avLst/>
          </a:prstGeom>
        </p:spPr>
      </p:pic>
      <p:sp>
        <p:nvSpPr>
          <p:cNvPr id="27" name="Text 18"/>
          <p:cNvSpPr txBox="1"/>
          <p:nvPr/>
        </p:nvSpPr>
        <p:spPr>
          <a:xfrm>
            <a:off x="7315200" y="4114800"/>
            <a:ext cx="4206240" cy="548640"/>
          </a:xfrm>
          <a:prstGeom prst="rect">
            <a:avLst/>
          </a:prstGeom>
          <a:noFill/>
          <a:ln/>
        </p:spPr>
        <p:txBody>
          <a:bodyPr wrap="square" rtlCol="0" anchor="ctr"/>
          <a:lstStyle/>
          <a:p>
            <a:pPr indent="0" marL="0">
              <a:buNone/>
            </a:pPr>
            <a:r>
              <a:rPr lang="en-US" sz="1700" dirty="0">
                <a:solidFill>
                  <a:schemeClr val="bg1"/>
                </a:solidFill>
              </a:rPr>
              <a:t>Lễ tân duyệt lịch, tìm kiếm nhanh</a:t>
            </a:r>
            <a:endParaRPr lang="en-US" sz="1700" dirty="0"/>
          </a:p>
        </p:txBody>
      </p:sp>
      <p:sp>
        <p:nvSpPr>
          <p:cNvPr id="28" name="icon-bg-chart"/>
          <p:cNvSpPr/>
          <p:nvPr/>
        </p:nvSpPr>
        <p:spPr>
          <a:xfrm>
            <a:off x="6537960" y="4937760"/>
            <a:ext cx="594360" cy="594360"/>
          </a:xfrm>
          <a:prstGeom prst="ellipse">
            <a:avLst/>
          </a:prstGeom>
          <a:solidFill>
            <a:schemeClr val="tx2"/>
          </a:solidFill>
          <a:ln w="12700">
            <a:solidFill>
              <a:schemeClr val="tx2"/>
            </a:solidFill>
            <a:prstDash val="solid"/>
          </a:ln>
        </p:spPr>
      </p:sp>
      <p:pic>
        <p:nvPicPr>
          <p:cNvPr id="29" name="icon-chart" descr="preencoded.png">    </p:cNvPr>
          <p:cNvPicPr>
            <a:picLocks noChangeAspect="1"/>
          </p:cNvPicPr>
          <p:nvPr/>
        </p:nvPicPr>
        <p:blipFill>
          <a:blip r:embed="rId8"/>
          <a:stretch>
            <a:fillRect/>
          </a:stretch>
        </p:blipFill>
        <p:spPr>
          <a:xfrm>
            <a:off x="6680606" y="5080406"/>
            <a:ext cx="309067" cy="309067"/>
          </a:xfrm>
          <a:prstGeom prst="rect">
            <a:avLst/>
          </a:prstGeom>
        </p:spPr>
      </p:pic>
      <p:sp>
        <p:nvSpPr>
          <p:cNvPr id="30" name="Text 20"/>
          <p:cNvSpPr txBox="1"/>
          <p:nvPr/>
        </p:nvSpPr>
        <p:spPr>
          <a:xfrm>
            <a:off x="7315200" y="4983480"/>
            <a:ext cx="4206240" cy="548640"/>
          </a:xfrm>
          <a:prstGeom prst="rect">
            <a:avLst/>
          </a:prstGeom>
          <a:noFill/>
          <a:ln/>
        </p:spPr>
        <p:txBody>
          <a:bodyPr wrap="square" rtlCol="0" anchor="ctr"/>
          <a:lstStyle/>
          <a:p>
            <a:pPr indent="0" marL="0">
              <a:buNone/>
            </a:pPr>
            <a:r>
              <a:rPr lang="en-US" sz="1700" dirty="0">
                <a:solidFill>
                  <a:schemeClr val="bg1"/>
                </a:solidFill>
              </a:rPr>
              <a:t>Thống kê theo tháng, bác sĩ, chuyên khoa</a:t>
            </a:r>
            <a:endParaRPr lang="en-US" sz="17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Mục tiêu và phạm vi đồ án</a:t>
            </a:r>
            <a:endParaRPr lang="en-US" sz="3200" dirty="0"/>
          </a:p>
        </p:txBody>
      </p:sp>
      <p:sp>
        <p:nvSpPr>
          <p:cNvPr id="3" name="stat-0"/>
          <p:cNvSpPr/>
          <p:nvPr/>
        </p:nvSpPr>
        <p:spPr>
          <a:xfrm>
            <a:off x="548640" y="1463040"/>
            <a:ext cx="2606040" cy="2377440"/>
          </a:xfrm>
          <a:prstGeom prst="roundRect">
            <a:avLst>
              <a:gd name="adj" fmla="val 4615"/>
            </a:avLst>
          </a:prstGeom>
          <a:solidFill>
            <a:schemeClr val="bg2"/>
          </a:solidFill>
          <a:ln w="12700">
            <a:solidFill>
              <a:schemeClr val="bg2"/>
            </a:solidFill>
            <a:prstDash val="solid"/>
          </a:ln>
        </p:spPr>
      </p:sp>
      <p:sp>
        <p:nvSpPr>
          <p:cNvPr id="4" name="Text 2"/>
          <p:cNvSpPr txBox="1"/>
          <p:nvPr/>
        </p:nvSpPr>
        <p:spPr>
          <a:xfrm>
            <a:off x="548640" y="1600200"/>
            <a:ext cx="2606040" cy="1005840"/>
          </a:xfrm>
          <a:prstGeom prst="rect">
            <a:avLst/>
          </a:prstGeom>
          <a:noFill/>
          <a:ln/>
        </p:spPr>
        <p:txBody>
          <a:bodyPr wrap="square"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548640" y="2606040"/>
            <a:ext cx="2606040" cy="411480"/>
          </a:xfrm>
          <a:prstGeom prst="rect">
            <a:avLst/>
          </a:prstGeom>
          <a:noFill/>
          <a:ln/>
        </p:spPr>
        <p:txBody>
          <a:bodyPr wrap="square" rtlCol="0" anchor="t"/>
          <a:lstStyle/>
          <a:p>
            <a:pPr algn="ctr" indent="0" marL="0">
              <a:buNone/>
            </a:pPr>
            <a:r>
              <a:rPr lang="en-US" sz="1800" b="1" dirty="0">
                <a:solidFill>
                  <a:schemeClr val="tx2"/>
                </a:solidFill>
              </a:rPr>
              <a:t>tác nhân</a:t>
            </a:r>
            <a:endParaRPr lang="en-US" sz="1800" dirty="0"/>
          </a:p>
        </p:txBody>
      </p:sp>
      <p:sp>
        <p:nvSpPr>
          <p:cNvPr id="6" name="Text 4"/>
          <p:cNvSpPr txBox="1"/>
          <p:nvPr/>
        </p:nvSpPr>
        <p:spPr>
          <a:xfrm>
            <a:off x="685800" y="3017520"/>
            <a:ext cx="2331720" cy="640080"/>
          </a:xfrm>
          <a:prstGeom prst="rect">
            <a:avLst/>
          </a:prstGeom>
          <a:noFill/>
          <a:ln/>
        </p:spPr>
        <p:txBody>
          <a:bodyPr wrap="square" rtlCol="0" anchor="t"/>
          <a:lstStyle/>
          <a:p>
            <a:pPr algn="ctr" indent="0" marL="0">
              <a:buNone/>
            </a:pPr>
            <a:r>
              <a:rPr lang="en-US" sz="1400" dirty="0">
                <a:solidFill>
                  <a:schemeClr val="accent5"/>
                </a:solidFill>
              </a:rPr>
              <a:t>Bệnh nhân, Lễ tân, Quản trị viên</a:t>
            </a:r>
            <a:endParaRPr lang="en-US" sz="1400" dirty="0"/>
          </a:p>
        </p:txBody>
      </p:sp>
      <p:sp>
        <p:nvSpPr>
          <p:cNvPr id="7" name="stat-1"/>
          <p:cNvSpPr/>
          <p:nvPr/>
        </p:nvSpPr>
        <p:spPr>
          <a:xfrm>
            <a:off x="3364992" y="1463040"/>
            <a:ext cx="2606040" cy="2377440"/>
          </a:xfrm>
          <a:prstGeom prst="roundRect">
            <a:avLst>
              <a:gd name="adj" fmla="val 4615"/>
            </a:avLst>
          </a:prstGeom>
          <a:solidFill>
            <a:schemeClr val="bg2"/>
          </a:solidFill>
          <a:ln w="12700">
            <a:solidFill>
              <a:schemeClr val="bg2"/>
            </a:solidFill>
            <a:prstDash val="solid"/>
          </a:ln>
        </p:spPr>
      </p:sp>
      <p:sp>
        <p:nvSpPr>
          <p:cNvPr id="8" name="Text 6"/>
          <p:cNvSpPr txBox="1"/>
          <p:nvPr/>
        </p:nvSpPr>
        <p:spPr>
          <a:xfrm>
            <a:off x="3364992" y="1600200"/>
            <a:ext cx="2606040" cy="1005840"/>
          </a:xfrm>
          <a:prstGeom prst="rect">
            <a:avLst/>
          </a:prstGeom>
          <a:noFill/>
          <a:ln/>
        </p:spPr>
        <p:txBody>
          <a:bodyPr wrap="square"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11</a:t>
            </a:r>
            <a:endParaRPr lang="en-US" sz="5400" dirty="0"/>
          </a:p>
        </p:txBody>
      </p:sp>
      <p:sp>
        <p:nvSpPr>
          <p:cNvPr id="9" name="Text 7"/>
          <p:cNvSpPr txBox="1"/>
          <p:nvPr/>
        </p:nvSpPr>
        <p:spPr>
          <a:xfrm>
            <a:off x="3364992" y="2606040"/>
            <a:ext cx="2606040" cy="411480"/>
          </a:xfrm>
          <a:prstGeom prst="rect">
            <a:avLst/>
          </a:prstGeom>
          <a:noFill/>
          <a:ln/>
        </p:spPr>
        <p:txBody>
          <a:bodyPr wrap="square" rtlCol="0" anchor="t"/>
          <a:lstStyle/>
          <a:p>
            <a:pPr algn="ctr" indent="0" marL="0">
              <a:buNone/>
            </a:pPr>
            <a:r>
              <a:rPr lang="en-US" sz="1800" b="1" dirty="0">
                <a:solidFill>
                  <a:schemeClr val="tx2"/>
                </a:solidFill>
              </a:rPr>
              <a:t>chức năng</a:t>
            </a:r>
            <a:endParaRPr lang="en-US" sz="1800" dirty="0"/>
          </a:p>
        </p:txBody>
      </p:sp>
      <p:sp>
        <p:nvSpPr>
          <p:cNvPr id="10" name="Text 8"/>
          <p:cNvSpPr txBox="1"/>
          <p:nvPr/>
        </p:nvSpPr>
        <p:spPr>
          <a:xfrm>
            <a:off x="3502152" y="3017520"/>
            <a:ext cx="2331720" cy="640080"/>
          </a:xfrm>
          <a:prstGeom prst="rect">
            <a:avLst/>
          </a:prstGeom>
          <a:noFill/>
          <a:ln/>
        </p:spPr>
        <p:txBody>
          <a:bodyPr wrap="square" rtlCol="0" anchor="t"/>
          <a:lstStyle/>
          <a:p>
            <a:pPr algn="ctr" indent="0" marL="0">
              <a:buNone/>
            </a:pPr>
            <a:r>
              <a:rPr lang="en-US" sz="1400" dirty="0">
                <a:solidFill>
                  <a:schemeClr val="accent5"/>
                </a:solidFill>
              </a:rPr>
              <a:t>Đăng ký đến thống kê, báo cáo</a:t>
            </a:r>
            <a:endParaRPr lang="en-US" sz="1400" dirty="0"/>
          </a:p>
        </p:txBody>
      </p:sp>
      <p:sp>
        <p:nvSpPr>
          <p:cNvPr id="11" name="stat-2"/>
          <p:cNvSpPr/>
          <p:nvPr/>
        </p:nvSpPr>
        <p:spPr>
          <a:xfrm>
            <a:off x="6181344" y="1463040"/>
            <a:ext cx="2606040" cy="2377440"/>
          </a:xfrm>
          <a:prstGeom prst="roundRect">
            <a:avLst>
              <a:gd name="adj" fmla="val 4615"/>
            </a:avLst>
          </a:prstGeom>
          <a:solidFill>
            <a:schemeClr val="bg2"/>
          </a:solidFill>
          <a:ln w="12700">
            <a:solidFill>
              <a:schemeClr val="bg2"/>
            </a:solidFill>
            <a:prstDash val="solid"/>
          </a:ln>
        </p:spPr>
      </p:sp>
      <p:sp>
        <p:nvSpPr>
          <p:cNvPr id="12" name="Text 10"/>
          <p:cNvSpPr txBox="1"/>
          <p:nvPr/>
        </p:nvSpPr>
        <p:spPr>
          <a:xfrm>
            <a:off x="6181344" y="1600200"/>
            <a:ext cx="2606040" cy="1005840"/>
          </a:xfrm>
          <a:prstGeom prst="rect">
            <a:avLst/>
          </a:prstGeom>
          <a:noFill/>
          <a:ln/>
        </p:spPr>
        <p:txBody>
          <a:bodyPr wrap="square"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7</a:t>
            </a:r>
            <a:endParaRPr lang="en-US" sz="5400" dirty="0"/>
          </a:p>
        </p:txBody>
      </p:sp>
      <p:sp>
        <p:nvSpPr>
          <p:cNvPr id="13" name="Text 11"/>
          <p:cNvSpPr txBox="1"/>
          <p:nvPr/>
        </p:nvSpPr>
        <p:spPr>
          <a:xfrm>
            <a:off x="6181344" y="2606040"/>
            <a:ext cx="2606040" cy="411480"/>
          </a:xfrm>
          <a:prstGeom prst="rect">
            <a:avLst/>
          </a:prstGeom>
          <a:noFill/>
          <a:ln/>
        </p:spPr>
        <p:txBody>
          <a:bodyPr wrap="square" rtlCol="0" anchor="t"/>
          <a:lstStyle/>
          <a:p>
            <a:pPr algn="ctr" indent="0" marL="0">
              <a:buNone/>
            </a:pPr>
            <a:r>
              <a:rPr lang="en-US" sz="1800" b="1" dirty="0">
                <a:solidFill>
                  <a:schemeClr val="tx2"/>
                </a:solidFill>
              </a:rPr>
              <a:t>bảng dữ liệu</a:t>
            </a:r>
            <a:endParaRPr lang="en-US" sz="1800" dirty="0"/>
          </a:p>
        </p:txBody>
      </p:sp>
      <p:sp>
        <p:nvSpPr>
          <p:cNvPr id="14" name="Text 12"/>
          <p:cNvSpPr txBox="1"/>
          <p:nvPr/>
        </p:nvSpPr>
        <p:spPr>
          <a:xfrm>
            <a:off x="6318504" y="3017520"/>
            <a:ext cx="2331720" cy="640080"/>
          </a:xfrm>
          <a:prstGeom prst="rect">
            <a:avLst/>
          </a:prstGeom>
          <a:noFill/>
          <a:ln/>
        </p:spPr>
        <p:txBody>
          <a:bodyPr wrap="square" rtlCol="0" anchor="t"/>
          <a:lstStyle/>
          <a:p>
            <a:pPr algn="ctr" indent="0" marL="0">
              <a:buNone/>
            </a:pPr>
            <a:r>
              <a:rPr lang="en-US" sz="1400" dirty="0">
                <a:solidFill>
                  <a:schemeClr val="accent5"/>
                </a:solidFill>
              </a:rPr>
              <a:t>Kèm 2 view, 4 thủ tục lưu trữ</a:t>
            </a:r>
            <a:endParaRPr lang="en-US" sz="1400" dirty="0"/>
          </a:p>
        </p:txBody>
      </p:sp>
      <p:sp>
        <p:nvSpPr>
          <p:cNvPr id="15" name="stat-3"/>
          <p:cNvSpPr/>
          <p:nvPr/>
        </p:nvSpPr>
        <p:spPr>
          <a:xfrm>
            <a:off x="8997696" y="1463040"/>
            <a:ext cx="2606040" cy="2377440"/>
          </a:xfrm>
          <a:prstGeom prst="roundRect">
            <a:avLst>
              <a:gd name="adj" fmla="val 4615"/>
            </a:avLst>
          </a:prstGeom>
          <a:solidFill>
            <a:schemeClr val="bg2"/>
          </a:solidFill>
          <a:ln w="12700">
            <a:solidFill>
              <a:schemeClr val="bg2"/>
            </a:solidFill>
            <a:prstDash val="solid"/>
          </a:ln>
        </p:spPr>
      </p:sp>
      <p:sp>
        <p:nvSpPr>
          <p:cNvPr id="16" name="Text 14"/>
          <p:cNvSpPr txBox="1"/>
          <p:nvPr/>
        </p:nvSpPr>
        <p:spPr>
          <a:xfrm>
            <a:off x="8997696" y="1600200"/>
            <a:ext cx="2606040" cy="1005840"/>
          </a:xfrm>
          <a:prstGeom prst="rect">
            <a:avLst/>
          </a:prstGeom>
          <a:noFill/>
          <a:ln/>
        </p:spPr>
        <p:txBody>
          <a:bodyPr wrap="square"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19/19</a:t>
            </a:r>
            <a:endParaRPr lang="en-US" sz="5400" dirty="0"/>
          </a:p>
        </p:txBody>
      </p:sp>
      <p:sp>
        <p:nvSpPr>
          <p:cNvPr id="17" name="Text 15"/>
          <p:cNvSpPr txBox="1"/>
          <p:nvPr/>
        </p:nvSpPr>
        <p:spPr>
          <a:xfrm>
            <a:off x="8997696" y="2606040"/>
            <a:ext cx="2606040" cy="411480"/>
          </a:xfrm>
          <a:prstGeom prst="rect">
            <a:avLst/>
          </a:prstGeom>
          <a:noFill/>
          <a:ln/>
        </p:spPr>
        <p:txBody>
          <a:bodyPr wrap="square" rtlCol="0" anchor="t"/>
          <a:lstStyle/>
          <a:p>
            <a:pPr algn="ctr" indent="0" marL="0">
              <a:buNone/>
            </a:pPr>
            <a:r>
              <a:rPr lang="en-US" sz="1800" b="1" dirty="0">
                <a:solidFill>
                  <a:schemeClr val="tx2"/>
                </a:solidFill>
              </a:rPr>
              <a:t>kịch bản kiểm thử</a:t>
            </a:r>
            <a:endParaRPr lang="en-US" sz="1800" dirty="0"/>
          </a:p>
        </p:txBody>
      </p:sp>
      <p:sp>
        <p:nvSpPr>
          <p:cNvPr id="18" name="Text 16"/>
          <p:cNvSpPr txBox="1"/>
          <p:nvPr/>
        </p:nvSpPr>
        <p:spPr>
          <a:xfrm>
            <a:off x="9134856" y="3017520"/>
            <a:ext cx="2331720" cy="640080"/>
          </a:xfrm>
          <a:prstGeom prst="rect">
            <a:avLst/>
          </a:prstGeom>
          <a:noFill/>
          <a:ln/>
        </p:spPr>
        <p:txBody>
          <a:bodyPr wrap="square" rtlCol="0" anchor="t"/>
          <a:lstStyle/>
          <a:p>
            <a:pPr algn="ctr" indent="0" marL="0">
              <a:buNone/>
            </a:pPr>
            <a:r>
              <a:rPr lang="en-US" sz="1400" dirty="0">
                <a:solidFill>
                  <a:schemeClr val="accent5"/>
                </a:solidFill>
              </a:rPr>
              <a:t>Đạt yêu cầu</a:t>
            </a:r>
            <a:endParaRPr lang="en-US" sz="1400" dirty="0"/>
          </a:p>
        </p:txBody>
      </p:sp>
      <p:sp>
        <p:nvSpPr>
          <p:cNvPr id="19" name="Text 17"/>
          <p:cNvSpPr txBox="1"/>
          <p:nvPr/>
        </p:nvSpPr>
        <p:spPr>
          <a:xfrm>
            <a:off x="548640" y="4160520"/>
            <a:ext cx="5486400" cy="411480"/>
          </a:xfrm>
          <a:prstGeom prst="rect">
            <a:avLst/>
          </a:prstGeom>
          <a:noFill/>
          <a:ln/>
        </p:spPr>
        <p:txBody>
          <a:bodyPr wrap="square" rtlCol="0" anchor="t"/>
          <a:lstStyle/>
          <a:p>
            <a:pPr indent="0" marL="0">
              <a:buNone/>
            </a:pPr>
            <a:r>
              <a:rPr lang="en-US" sz="2000" b="1" dirty="0">
                <a:solidFill>
                  <a:schemeClr val="tx2"/>
                </a:solidFill>
              </a:rPr>
              <a:t>Phạm vi triển khai</a:t>
            </a:r>
            <a:endParaRPr lang="en-US" sz="2000" dirty="0"/>
          </a:p>
        </p:txBody>
      </p:sp>
      <p:sp>
        <p:nvSpPr>
          <p:cNvPr id="20" name="Text 18"/>
          <p:cNvSpPr txBox="1"/>
          <p:nvPr/>
        </p:nvSpPr>
        <p:spPr>
          <a:xfrm>
            <a:off x="548640" y="4617720"/>
            <a:ext cx="11064240" cy="1463040"/>
          </a:xfrm>
          <a:prstGeom prst="rect">
            <a:avLst/>
          </a:prstGeom>
          <a:noFill/>
          <a:ln/>
        </p:spPr>
        <p:txBody>
          <a:bodyPr wrap="square" rtlCol="0" anchor="t"/>
          <a:lstStyle/>
          <a:p>
            <a:pPr marL="342900" indent="-342900">
              <a:spcAft>
                <a:spcPts val="600"/>
              </a:spcAft>
              <a:buSzPct val="100000"/>
              <a:buChar char="•"/>
            </a:pPr>
            <a:r>
              <a:rPr lang="en-US" sz="1700" dirty="0">
                <a:solidFill>
                  <a:schemeClr val="tx1"/>
                </a:solidFill>
              </a:rPr>
              <a:t>Một phòng khám, nhiều chuyên khoa và bác sĩ</a:t>
            </a:r>
            <a:endParaRPr lang="en-US" sz="1700" dirty="0"/>
          </a:p>
          <a:p>
            <a:pPr marL="342900" indent="-342900">
              <a:spcAft>
                <a:spcPts val="600"/>
              </a:spcAft>
              <a:buSzPct val="100000"/>
              <a:buChar char="•"/>
            </a:pPr>
            <a:r>
              <a:rPr lang="en-US" sz="1700" dirty="0">
                <a:solidFill>
                  <a:schemeClr val="tx1"/>
                </a:solidFill>
              </a:rPr>
              <a:t>Khung giờ: 17:00–21:00 ngày thường; 08:00–21:00 thứ Bảy, Chủ nhật</a:t>
            </a:r>
            <a:endParaRPr lang="en-US" sz="1700" dirty="0"/>
          </a:p>
          <a:p>
            <a:pPr marL="342900" indent="-342900">
              <a:spcAft>
                <a:spcPts val="600"/>
              </a:spcAft>
              <a:buSzPct val="100000"/>
              <a:buChar char="•"/>
            </a:pPr>
            <a:r>
              <a:rPr lang="en-US" sz="1700" dirty="0">
                <a:solidFill>
                  <a:schemeClr val="tx1"/>
                </a:solidFill>
              </a:rPr>
              <a:t>Chạy thử nghiệm trên IIS Express và SQL Server Express</a:t>
            </a:r>
            <a:endParaRPr lang="en-US" sz="17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Công nghệ sử dụng</a:t>
            </a:r>
            <a:endParaRPr lang="en-US" sz="3200" dirty="0"/>
          </a:p>
        </p:txBody>
      </p:sp>
      <p:sp>
        <p:nvSpPr>
          <p:cNvPr id="3" name="tech-0"/>
          <p:cNvSpPr/>
          <p:nvPr/>
        </p:nvSpPr>
        <p:spPr>
          <a:xfrm>
            <a:off x="548640" y="1508760"/>
            <a:ext cx="3520440" cy="2103120"/>
          </a:xfrm>
          <a:prstGeom prst="roundRect">
            <a:avLst>
              <a:gd name="adj" fmla="val 5217"/>
            </a:avLst>
          </a:prstGeom>
          <a:solidFill>
            <a:schemeClr val="bg2"/>
          </a:solidFill>
          <a:ln w="12700">
            <a:solidFill>
              <a:schemeClr val="bg2"/>
            </a:solidFill>
            <a:prstDash val="solid"/>
          </a:ln>
        </p:spPr>
      </p:sp>
      <p:sp>
        <p:nvSpPr>
          <p:cNvPr id="4" name="icon-bg-window"/>
          <p:cNvSpPr/>
          <p:nvPr/>
        </p:nvSpPr>
        <p:spPr>
          <a:xfrm>
            <a:off x="822960" y="1783080"/>
            <a:ext cx="731520" cy="731520"/>
          </a:xfrm>
          <a:prstGeom prst="ellipse">
            <a:avLst/>
          </a:prstGeom>
          <a:solidFill>
            <a:schemeClr val="accent1"/>
          </a:solidFill>
          <a:ln w="12700">
            <a:solidFill>
              <a:schemeClr val="accent1"/>
            </a:solidFill>
            <a:prstDash val="solid"/>
          </a:ln>
        </p:spPr>
      </p:sp>
      <p:pic>
        <p:nvPicPr>
          <p:cNvPr id="5" name="icon-window" descr="preencoded.png">    </p:cNvPr>
          <p:cNvPicPr>
            <a:picLocks noChangeAspect="1"/>
          </p:cNvPicPr>
          <p:nvPr/>
        </p:nvPicPr>
        <p:blipFill>
          <a:blip r:embed="rId1"/>
          <a:stretch>
            <a:fillRect/>
          </a:stretch>
        </p:blipFill>
        <p:spPr>
          <a:xfrm>
            <a:off x="998525" y="1958645"/>
            <a:ext cx="380390" cy="380390"/>
          </a:xfrm>
          <a:prstGeom prst="rect">
            <a:avLst/>
          </a:prstGeom>
        </p:spPr>
      </p:pic>
      <p:sp>
        <p:nvSpPr>
          <p:cNvPr id="6" name="Text 3"/>
          <p:cNvSpPr txBox="1"/>
          <p:nvPr/>
        </p:nvSpPr>
        <p:spPr>
          <a:xfrm>
            <a:off x="1691640" y="1828800"/>
            <a:ext cx="2286000" cy="685800"/>
          </a:xfrm>
          <a:prstGeom prst="rect">
            <a:avLst/>
          </a:prstGeom>
          <a:noFill/>
          <a:ln/>
        </p:spPr>
        <p:txBody>
          <a:bodyPr wrap="square" rtlCol="0" anchor="ctr"/>
          <a:lstStyle/>
          <a:p>
            <a:pPr indent="0" marL="0">
              <a:buNone/>
            </a:pPr>
            <a:r>
              <a:rPr lang="en-US" sz="1800" b="1" dirty="0">
                <a:solidFill>
                  <a:schemeClr val="tx2"/>
                </a:solidFill>
              </a:rPr>
              <a:t>ASP.NET Web Forms</a:t>
            </a:r>
            <a:endParaRPr lang="en-US" sz="1800" dirty="0"/>
          </a:p>
        </p:txBody>
      </p:sp>
      <p:sp>
        <p:nvSpPr>
          <p:cNvPr id="7" name="Text 4"/>
          <p:cNvSpPr txBox="1"/>
          <p:nvPr/>
        </p:nvSpPr>
        <p:spPr>
          <a:xfrm>
            <a:off x="822960" y="2651760"/>
            <a:ext cx="3017520" cy="822960"/>
          </a:xfrm>
          <a:prstGeom prst="rect">
            <a:avLst/>
          </a:prstGeom>
          <a:noFill/>
          <a:ln/>
        </p:spPr>
        <p:txBody>
          <a:bodyPr wrap="square" rtlCol="0" anchor="t"/>
          <a:lstStyle/>
          <a:p>
            <a:pPr indent="0" marL="0">
              <a:buNone/>
            </a:pPr>
            <a:r>
              <a:rPr lang="en-US" sz="1400" dirty="0">
                <a:solidFill>
                  <a:schemeClr val="accent5"/>
                </a:solidFill>
              </a:rPr>
              <a:t>.NET Framework 4.8 – Master Page, Server Controls, Validation, Session</a:t>
            </a:r>
            <a:endParaRPr lang="en-US" sz="1400" dirty="0"/>
          </a:p>
        </p:txBody>
      </p:sp>
      <p:sp>
        <p:nvSpPr>
          <p:cNvPr id="8" name="tech-1"/>
          <p:cNvSpPr/>
          <p:nvPr/>
        </p:nvSpPr>
        <p:spPr>
          <a:xfrm>
            <a:off x="4297680" y="1508760"/>
            <a:ext cx="3520440" cy="2103120"/>
          </a:xfrm>
          <a:prstGeom prst="roundRect">
            <a:avLst>
              <a:gd name="adj" fmla="val 5217"/>
            </a:avLst>
          </a:prstGeom>
          <a:solidFill>
            <a:schemeClr val="bg2"/>
          </a:solidFill>
          <a:ln w="12700">
            <a:solidFill>
              <a:schemeClr val="bg2"/>
            </a:solidFill>
            <a:prstDash val="solid"/>
          </a:ln>
        </p:spPr>
      </p:sp>
      <p:sp>
        <p:nvSpPr>
          <p:cNvPr id="9" name="icon-bg-code"/>
          <p:cNvSpPr/>
          <p:nvPr/>
        </p:nvSpPr>
        <p:spPr>
          <a:xfrm>
            <a:off x="4572000" y="1783080"/>
            <a:ext cx="731520" cy="731520"/>
          </a:xfrm>
          <a:prstGeom prst="ellipse">
            <a:avLst/>
          </a:prstGeom>
          <a:solidFill>
            <a:schemeClr val="accent1"/>
          </a:solidFill>
          <a:ln w="12700">
            <a:solidFill>
              <a:schemeClr val="accent1"/>
            </a:solidFill>
            <a:prstDash val="solid"/>
          </a:ln>
        </p:spPr>
      </p:sp>
      <p:pic>
        <p:nvPicPr>
          <p:cNvPr id="10" name="icon-code" descr="preencoded.png">    </p:cNvPr>
          <p:cNvPicPr>
            <a:picLocks noChangeAspect="1"/>
          </p:cNvPicPr>
          <p:nvPr/>
        </p:nvPicPr>
        <p:blipFill>
          <a:blip r:embed="rId2"/>
          <a:stretch>
            <a:fillRect/>
          </a:stretch>
        </p:blipFill>
        <p:spPr>
          <a:xfrm>
            <a:off x="4747565" y="1958645"/>
            <a:ext cx="380390" cy="380390"/>
          </a:xfrm>
          <a:prstGeom prst="rect">
            <a:avLst/>
          </a:prstGeom>
        </p:spPr>
      </p:pic>
      <p:sp>
        <p:nvSpPr>
          <p:cNvPr id="11" name="Text 7"/>
          <p:cNvSpPr txBox="1"/>
          <p:nvPr/>
        </p:nvSpPr>
        <p:spPr>
          <a:xfrm>
            <a:off x="5440680" y="1828800"/>
            <a:ext cx="2286000" cy="685800"/>
          </a:xfrm>
          <a:prstGeom prst="rect">
            <a:avLst/>
          </a:prstGeom>
          <a:noFill/>
          <a:ln/>
        </p:spPr>
        <p:txBody>
          <a:bodyPr wrap="square" rtlCol="0" anchor="ctr"/>
          <a:lstStyle/>
          <a:p>
            <a:pPr indent="0" marL="0">
              <a:buNone/>
            </a:pPr>
            <a:r>
              <a:rPr lang="en-US" sz="1800" b="1" dirty="0">
                <a:solidFill>
                  <a:schemeClr val="tx2"/>
                </a:solidFill>
              </a:rPr>
              <a:t>C# và ADO.NET</a:t>
            </a:r>
            <a:endParaRPr lang="en-US" sz="1800" dirty="0"/>
          </a:p>
        </p:txBody>
      </p:sp>
      <p:sp>
        <p:nvSpPr>
          <p:cNvPr id="12" name="Text 8"/>
          <p:cNvSpPr txBox="1"/>
          <p:nvPr/>
        </p:nvSpPr>
        <p:spPr>
          <a:xfrm>
            <a:off x="4572000" y="2651760"/>
            <a:ext cx="3017520" cy="822960"/>
          </a:xfrm>
          <a:prstGeom prst="rect">
            <a:avLst/>
          </a:prstGeom>
          <a:noFill/>
          <a:ln/>
        </p:spPr>
        <p:txBody>
          <a:bodyPr wrap="square" rtlCol="0" anchor="t"/>
          <a:lstStyle/>
          <a:p>
            <a:pPr indent="0" marL="0">
              <a:buNone/>
            </a:pPr>
            <a:r>
              <a:rPr lang="en-US" sz="1400" dirty="0">
                <a:solidFill>
                  <a:schemeClr val="accent5"/>
                </a:solidFill>
              </a:rPr>
              <a:t>Code-behind, SqlConnection, SqlCommand, SqlParameter</a:t>
            </a:r>
            <a:endParaRPr lang="en-US" sz="1400" dirty="0"/>
          </a:p>
        </p:txBody>
      </p:sp>
      <p:sp>
        <p:nvSpPr>
          <p:cNvPr id="13" name="tech-2"/>
          <p:cNvSpPr/>
          <p:nvPr/>
        </p:nvSpPr>
        <p:spPr>
          <a:xfrm>
            <a:off x="8046720" y="1508760"/>
            <a:ext cx="3520440" cy="2103120"/>
          </a:xfrm>
          <a:prstGeom prst="roundRect">
            <a:avLst>
              <a:gd name="adj" fmla="val 5217"/>
            </a:avLst>
          </a:prstGeom>
          <a:solidFill>
            <a:schemeClr val="bg2"/>
          </a:solidFill>
          <a:ln w="12700">
            <a:solidFill>
              <a:schemeClr val="bg2"/>
            </a:solidFill>
            <a:prstDash val="solid"/>
          </a:ln>
        </p:spPr>
      </p:sp>
      <p:sp>
        <p:nvSpPr>
          <p:cNvPr id="14" name="icon-bg-db"/>
          <p:cNvSpPr/>
          <p:nvPr/>
        </p:nvSpPr>
        <p:spPr>
          <a:xfrm>
            <a:off x="8321040" y="1783080"/>
            <a:ext cx="731520" cy="731520"/>
          </a:xfrm>
          <a:prstGeom prst="ellipse">
            <a:avLst/>
          </a:prstGeom>
          <a:solidFill>
            <a:schemeClr val="accent1"/>
          </a:solidFill>
          <a:ln w="12700">
            <a:solidFill>
              <a:schemeClr val="accent1"/>
            </a:solidFill>
            <a:prstDash val="solid"/>
          </a:ln>
        </p:spPr>
      </p:sp>
      <p:pic>
        <p:nvPicPr>
          <p:cNvPr id="15" name="icon-db" descr="preencoded.png">    </p:cNvPr>
          <p:cNvPicPr>
            <a:picLocks noChangeAspect="1"/>
          </p:cNvPicPr>
          <p:nvPr/>
        </p:nvPicPr>
        <p:blipFill>
          <a:blip r:embed="rId3"/>
          <a:stretch>
            <a:fillRect/>
          </a:stretch>
        </p:blipFill>
        <p:spPr>
          <a:xfrm>
            <a:off x="8496605" y="1958645"/>
            <a:ext cx="380390" cy="380390"/>
          </a:xfrm>
          <a:prstGeom prst="rect">
            <a:avLst/>
          </a:prstGeom>
        </p:spPr>
      </p:pic>
      <p:sp>
        <p:nvSpPr>
          <p:cNvPr id="16" name="Text 11"/>
          <p:cNvSpPr txBox="1"/>
          <p:nvPr/>
        </p:nvSpPr>
        <p:spPr>
          <a:xfrm>
            <a:off x="9189720" y="1828800"/>
            <a:ext cx="2286000" cy="685800"/>
          </a:xfrm>
          <a:prstGeom prst="rect">
            <a:avLst/>
          </a:prstGeom>
          <a:noFill/>
          <a:ln/>
        </p:spPr>
        <p:txBody>
          <a:bodyPr wrap="square" rtlCol="0" anchor="ctr"/>
          <a:lstStyle/>
          <a:p>
            <a:pPr indent="0" marL="0">
              <a:buNone/>
            </a:pPr>
            <a:r>
              <a:rPr lang="en-US" sz="1800" b="1" dirty="0">
                <a:solidFill>
                  <a:schemeClr val="tx2"/>
                </a:solidFill>
              </a:rPr>
              <a:t>SQL Server Express</a:t>
            </a:r>
            <a:endParaRPr lang="en-US" sz="1800" dirty="0"/>
          </a:p>
        </p:txBody>
      </p:sp>
      <p:sp>
        <p:nvSpPr>
          <p:cNvPr id="17" name="Text 12"/>
          <p:cNvSpPr txBox="1"/>
          <p:nvPr/>
        </p:nvSpPr>
        <p:spPr>
          <a:xfrm>
            <a:off x="8321040" y="2651760"/>
            <a:ext cx="3017520" cy="822960"/>
          </a:xfrm>
          <a:prstGeom prst="rect">
            <a:avLst/>
          </a:prstGeom>
          <a:noFill/>
          <a:ln/>
        </p:spPr>
        <p:txBody>
          <a:bodyPr wrap="square" rtlCol="0" anchor="t"/>
          <a:lstStyle/>
          <a:p>
            <a:pPr indent="0" marL="0">
              <a:buNone/>
            </a:pPr>
            <a:r>
              <a:rPr lang="en-US" sz="1400" dirty="0">
                <a:solidFill>
                  <a:schemeClr val="accent5"/>
                </a:solidFill>
              </a:rPr>
              <a:t>Bảng, ràng buộc, view, thủ tục lưu trữ, giao dịch</a:t>
            </a:r>
            <a:endParaRPr lang="en-US" sz="1400" dirty="0"/>
          </a:p>
        </p:txBody>
      </p:sp>
      <p:sp>
        <p:nvSpPr>
          <p:cNvPr id="18" name="tech-3"/>
          <p:cNvSpPr/>
          <p:nvPr/>
        </p:nvSpPr>
        <p:spPr>
          <a:xfrm>
            <a:off x="548640" y="3886200"/>
            <a:ext cx="3520440" cy="2103120"/>
          </a:xfrm>
          <a:prstGeom prst="roundRect">
            <a:avLst>
              <a:gd name="adj" fmla="val 5217"/>
            </a:avLst>
          </a:prstGeom>
          <a:solidFill>
            <a:schemeClr val="bg2"/>
          </a:solidFill>
          <a:ln w="12700">
            <a:solidFill>
              <a:schemeClr val="bg2"/>
            </a:solidFill>
            <a:prstDash val="solid"/>
          </a:ln>
        </p:spPr>
      </p:sp>
      <p:sp>
        <p:nvSpPr>
          <p:cNvPr id="19" name="icon-bg-tools"/>
          <p:cNvSpPr/>
          <p:nvPr/>
        </p:nvSpPr>
        <p:spPr>
          <a:xfrm>
            <a:off x="822960" y="4160520"/>
            <a:ext cx="731520" cy="731520"/>
          </a:xfrm>
          <a:prstGeom prst="ellipse">
            <a:avLst/>
          </a:prstGeom>
          <a:solidFill>
            <a:schemeClr val="accent1"/>
          </a:solidFill>
          <a:ln w="12700">
            <a:solidFill>
              <a:schemeClr val="accent1"/>
            </a:solidFill>
            <a:prstDash val="solid"/>
          </a:ln>
        </p:spPr>
      </p:sp>
      <p:pic>
        <p:nvPicPr>
          <p:cNvPr id="20" name="icon-tools" descr="preencoded.png">    </p:cNvPr>
          <p:cNvPicPr>
            <a:picLocks noChangeAspect="1"/>
          </p:cNvPicPr>
          <p:nvPr/>
        </p:nvPicPr>
        <p:blipFill>
          <a:blip r:embed="rId4"/>
          <a:stretch>
            <a:fillRect/>
          </a:stretch>
        </p:blipFill>
        <p:spPr>
          <a:xfrm>
            <a:off x="998525" y="4336085"/>
            <a:ext cx="380390" cy="380390"/>
          </a:xfrm>
          <a:prstGeom prst="rect">
            <a:avLst/>
          </a:prstGeom>
        </p:spPr>
      </p:pic>
      <p:sp>
        <p:nvSpPr>
          <p:cNvPr id="21" name="Text 15"/>
          <p:cNvSpPr txBox="1"/>
          <p:nvPr/>
        </p:nvSpPr>
        <p:spPr>
          <a:xfrm>
            <a:off x="1691640" y="4206240"/>
            <a:ext cx="2286000" cy="685800"/>
          </a:xfrm>
          <a:prstGeom prst="rect">
            <a:avLst/>
          </a:prstGeom>
          <a:noFill/>
          <a:ln/>
        </p:spPr>
        <p:txBody>
          <a:bodyPr wrap="square" rtlCol="0" anchor="ctr"/>
          <a:lstStyle/>
          <a:p>
            <a:pPr indent="0" marL="0">
              <a:buNone/>
            </a:pPr>
            <a:r>
              <a:rPr lang="en-US" sz="1800" b="1" dirty="0">
                <a:solidFill>
                  <a:schemeClr val="tx2"/>
                </a:solidFill>
              </a:rPr>
              <a:t>Visual Studio, SSMS</a:t>
            </a:r>
            <a:endParaRPr lang="en-US" sz="1800" dirty="0"/>
          </a:p>
        </p:txBody>
      </p:sp>
      <p:sp>
        <p:nvSpPr>
          <p:cNvPr id="22" name="Text 16"/>
          <p:cNvSpPr txBox="1"/>
          <p:nvPr/>
        </p:nvSpPr>
        <p:spPr>
          <a:xfrm>
            <a:off x="822960" y="5029200"/>
            <a:ext cx="3017520" cy="822960"/>
          </a:xfrm>
          <a:prstGeom prst="rect">
            <a:avLst/>
          </a:prstGeom>
          <a:noFill/>
          <a:ln/>
        </p:spPr>
        <p:txBody>
          <a:bodyPr wrap="square" rtlCol="0" anchor="t"/>
          <a:lstStyle/>
          <a:p>
            <a:pPr indent="0" marL="0">
              <a:buNone/>
            </a:pPr>
            <a:r>
              <a:rPr lang="en-US" sz="1400" dirty="0">
                <a:solidFill>
                  <a:schemeClr val="accent5"/>
                </a:solidFill>
              </a:rPr>
              <a:t>Phát triển, gỡ lỗi, chạy IIS Express; vẽ Database Diagram</a:t>
            </a:r>
            <a:endParaRPr lang="en-US" sz="1400" dirty="0"/>
          </a:p>
        </p:txBody>
      </p:sp>
      <p:sp>
        <p:nvSpPr>
          <p:cNvPr id="23" name="tech-4"/>
          <p:cNvSpPr/>
          <p:nvPr/>
        </p:nvSpPr>
        <p:spPr>
          <a:xfrm>
            <a:off x="4297680" y="3886200"/>
            <a:ext cx="3520440" cy="2103120"/>
          </a:xfrm>
          <a:prstGeom prst="roundRect">
            <a:avLst>
              <a:gd name="adj" fmla="val 5217"/>
            </a:avLst>
          </a:prstGeom>
          <a:solidFill>
            <a:schemeClr val="bg2"/>
          </a:solidFill>
          <a:ln w="12700">
            <a:solidFill>
              <a:schemeClr val="bg2"/>
            </a:solidFill>
            <a:prstDash val="solid"/>
          </a:ln>
        </p:spPr>
      </p:sp>
      <p:sp>
        <p:nvSpPr>
          <p:cNvPr id="24" name="icon-bg-layer"/>
          <p:cNvSpPr/>
          <p:nvPr/>
        </p:nvSpPr>
        <p:spPr>
          <a:xfrm>
            <a:off x="4572000" y="4160520"/>
            <a:ext cx="731520" cy="731520"/>
          </a:xfrm>
          <a:prstGeom prst="ellipse">
            <a:avLst/>
          </a:prstGeom>
          <a:solidFill>
            <a:schemeClr val="accent1"/>
          </a:solidFill>
          <a:ln w="12700">
            <a:solidFill>
              <a:schemeClr val="accent1"/>
            </a:solidFill>
            <a:prstDash val="solid"/>
          </a:ln>
        </p:spPr>
      </p:sp>
      <p:pic>
        <p:nvPicPr>
          <p:cNvPr id="25" name="icon-layer" descr="preencoded.png">    </p:cNvPr>
          <p:cNvPicPr>
            <a:picLocks noChangeAspect="1"/>
          </p:cNvPicPr>
          <p:nvPr/>
        </p:nvPicPr>
        <p:blipFill>
          <a:blip r:embed="rId5"/>
          <a:stretch>
            <a:fillRect/>
          </a:stretch>
        </p:blipFill>
        <p:spPr>
          <a:xfrm>
            <a:off x="4747565" y="4336085"/>
            <a:ext cx="380390" cy="380390"/>
          </a:xfrm>
          <a:prstGeom prst="rect">
            <a:avLst/>
          </a:prstGeom>
        </p:spPr>
      </p:pic>
      <p:sp>
        <p:nvSpPr>
          <p:cNvPr id="26" name="Text 19"/>
          <p:cNvSpPr txBox="1"/>
          <p:nvPr/>
        </p:nvSpPr>
        <p:spPr>
          <a:xfrm>
            <a:off x="5440680" y="4206240"/>
            <a:ext cx="2286000" cy="685800"/>
          </a:xfrm>
          <a:prstGeom prst="rect">
            <a:avLst/>
          </a:prstGeom>
          <a:noFill/>
          <a:ln/>
        </p:spPr>
        <p:txBody>
          <a:bodyPr wrap="square" rtlCol="0" anchor="ctr"/>
          <a:lstStyle/>
          <a:p>
            <a:pPr indent="0" marL="0">
              <a:buNone/>
            </a:pPr>
            <a:r>
              <a:rPr lang="en-US" sz="1800" b="1" dirty="0">
                <a:solidFill>
                  <a:schemeClr val="tx2"/>
                </a:solidFill>
              </a:rPr>
              <a:t>HTML5, CSS3</a:t>
            </a:r>
            <a:endParaRPr lang="en-US" sz="1800" dirty="0"/>
          </a:p>
        </p:txBody>
      </p:sp>
      <p:sp>
        <p:nvSpPr>
          <p:cNvPr id="27" name="Text 20"/>
          <p:cNvSpPr txBox="1"/>
          <p:nvPr/>
        </p:nvSpPr>
        <p:spPr>
          <a:xfrm>
            <a:off x="4572000" y="5029200"/>
            <a:ext cx="3017520" cy="822960"/>
          </a:xfrm>
          <a:prstGeom prst="rect">
            <a:avLst/>
          </a:prstGeom>
          <a:noFill/>
          <a:ln/>
        </p:spPr>
        <p:txBody>
          <a:bodyPr wrap="square" rtlCol="0" anchor="t"/>
          <a:lstStyle/>
          <a:p>
            <a:pPr indent="0" marL="0">
              <a:buNone/>
            </a:pPr>
            <a:r>
              <a:rPr lang="en-US" sz="1400" dirty="0">
                <a:solidFill>
                  <a:schemeClr val="accent5"/>
                </a:solidFill>
              </a:rPr>
              <a:t>Giao diện thống nhất, biểu đồ thanh bằng CSS</a:t>
            </a:r>
            <a:endParaRPr lang="en-US" sz="1400" dirty="0"/>
          </a:p>
        </p:txBody>
      </p:sp>
      <p:sp>
        <p:nvSpPr>
          <p:cNvPr id="28" name="tech-5"/>
          <p:cNvSpPr/>
          <p:nvPr/>
        </p:nvSpPr>
        <p:spPr>
          <a:xfrm>
            <a:off x="8046720" y="3886200"/>
            <a:ext cx="3520440" cy="2103120"/>
          </a:xfrm>
          <a:prstGeom prst="roundRect">
            <a:avLst>
              <a:gd name="adj" fmla="val 5217"/>
            </a:avLst>
          </a:prstGeom>
          <a:solidFill>
            <a:schemeClr val="bg2"/>
          </a:solidFill>
          <a:ln w="12700">
            <a:solidFill>
              <a:schemeClr val="bg2"/>
            </a:solidFill>
            <a:prstDash val="solid"/>
          </a:ln>
        </p:spPr>
      </p:sp>
      <p:sp>
        <p:nvSpPr>
          <p:cNvPr id="29" name="icon-bg-git"/>
          <p:cNvSpPr/>
          <p:nvPr/>
        </p:nvSpPr>
        <p:spPr>
          <a:xfrm>
            <a:off x="8321040" y="4160520"/>
            <a:ext cx="731520" cy="731520"/>
          </a:xfrm>
          <a:prstGeom prst="ellipse">
            <a:avLst/>
          </a:prstGeom>
          <a:solidFill>
            <a:schemeClr val="accent1"/>
          </a:solidFill>
          <a:ln w="12700">
            <a:solidFill>
              <a:schemeClr val="accent1"/>
            </a:solidFill>
            <a:prstDash val="solid"/>
          </a:ln>
        </p:spPr>
      </p:sp>
      <p:pic>
        <p:nvPicPr>
          <p:cNvPr id="30" name="icon-git" descr="preencoded.png">    </p:cNvPr>
          <p:cNvPicPr>
            <a:picLocks noChangeAspect="1"/>
          </p:cNvPicPr>
          <p:nvPr/>
        </p:nvPicPr>
        <p:blipFill>
          <a:blip r:embed="rId6"/>
          <a:stretch>
            <a:fillRect/>
          </a:stretch>
        </p:blipFill>
        <p:spPr>
          <a:xfrm>
            <a:off x="8496605" y="4336085"/>
            <a:ext cx="380390" cy="380390"/>
          </a:xfrm>
          <a:prstGeom prst="rect">
            <a:avLst/>
          </a:prstGeom>
        </p:spPr>
      </p:pic>
      <p:sp>
        <p:nvSpPr>
          <p:cNvPr id="31" name="Text 23"/>
          <p:cNvSpPr txBox="1"/>
          <p:nvPr/>
        </p:nvSpPr>
        <p:spPr>
          <a:xfrm>
            <a:off x="9189720" y="4206240"/>
            <a:ext cx="2286000" cy="685800"/>
          </a:xfrm>
          <a:prstGeom prst="rect">
            <a:avLst/>
          </a:prstGeom>
          <a:noFill/>
          <a:ln/>
        </p:spPr>
        <p:txBody>
          <a:bodyPr wrap="square" rtlCol="0" anchor="ctr"/>
          <a:lstStyle/>
          <a:p>
            <a:pPr indent="0" marL="0">
              <a:buNone/>
            </a:pPr>
            <a:r>
              <a:rPr lang="en-US" sz="1800" b="1" dirty="0">
                <a:solidFill>
                  <a:schemeClr val="tx2"/>
                </a:solidFill>
              </a:rPr>
              <a:t>Git và GitHub</a:t>
            </a:r>
            <a:endParaRPr lang="en-US" sz="1800" dirty="0"/>
          </a:p>
        </p:txBody>
      </p:sp>
      <p:sp>
        <p:nvSpPr>
          <p:cNvPr id="32" name="Text 24"/>
          <p:cNvSpPr txBox="1"/>
          <p:nvPr/>
        </p:nvSpPr>
        <p:spPr>
          <a:xfrm>
            <a:off x="8321040" y="5029200"/>
            <a:ext cx="3017520" cy="822960"/>
          </a:xfrm>
          <a:prstGeom prst="rect">
            <a:avLst/>
          </a:prstGeom>
          <a:noFill/>
          <a:ln/>
        </p:spPr>
        <p:txBody>
          <a:bodyPr wrap="square" rtlCol="0" anchor="t"/>
          <a:lstStyle/>
          <a:p>
            <a:pPr indent="0" marL="0">
              <a:buNone/>
            </a:pPr>
            <a:r>
              <a:rPr lang="en-US" sz="1400" dirty="0">
                <a:solidFill>
                  <a:schemeClr val="accent5"/>
                </a:solidFill>
              </a:rPr>
              <a:t>Quản lý mã nguồn, báo cáo tiến độ hằng tuần</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3 tác nhân, 11 chức năng</a:t>
            </a:r>
            <a:endParaRPr lang="en-US" sz="3200" dirty="0"/>
          </a:p>
        </p:txBody>
      </p:sp>
      <p:pic>
        <p:nvPicPr>
          <p:cNvPr id="3" name="so-do-use-case" descr="so-do-use-case">    </p:cNvPr>
          <p:cNvPicPr>
            <a:picLocks noChangeAspect="1"/>
          </p:cNvPicPr>
          <p:nvPr/>
        </p:nvPicPr>
        <p:blipFill>
          <a:blip r:embed="rId1"/>
          <a:stretch>
            <a:fillRect/>
          </a:stretch>
        </p:blipFill>
        <p:spPr>
          <a:xfrm>
            <a:off x="660201" y="1280160"/>
            <a:ext cx="4714638" cy="4983480"/>
          </a:xfrm>
          <a:prstGeom prst="rect">
            <a:avLst/>
          </a:prstGeom>
        </p:spPr>
      </p:pic>
      <p:sp>
        <p:nvSpPr>
          <p:cNvPr id="4" name="actor-0"/>
          <p:cNvSpPr/>
          <p:nvPr/>
        </p:nvSpPr>
        <p:spPr>
          <a:xfrm>
            <a:off x="5943600" y="1463040"/>
            <a:ext cx="5669280" cy="1371600"/>
          </a:xfrm>
          <a:prstGeom prst="roundRect">
            <a:avLst>
              <a:gd name="adj" fmla="val 8000"/>
            </a:avLst>
          </a:prstGeom>
          <a:solidFill>
            <a:schemeClr val="bg2"/>
          </a:solidFill>
          <a:ln w="12700">
            <a:solidFill>
              <a:schemeClr val="bg2"/>
            </a:solidFill>
            <a:prstDash val="solid"/>
          </a:ln>
        </p:spPr>
      </p:sp>
      <p:sp>
        <p:nvSpPr>
          <p:cNvPr id="5" name="icon-bg-user"/>
          <p:cNvSpPr/>
          <p:nvPr/>
        </p:nvSpPr>
        <p:spPr>
          <a:xfrm>
            <a:off x="6172200" y="1783080"/>
            <a:ext cx="731520" cy="731520"/>
          </a:xfrm>
          <a:prstGeom prst="ellipse">
            <a:avLst/>
          </a:prstGeom>
          <a:solidFill>
            <a:schemeClr val="accent1"/>
          </a:solidFill>
          <a:ln w="12700">
            <a:solidFill>
              <a:schemeClr val="accent1"/>
            </a:solidFill>
            <a:prstDash val="solid"/>
          </a:ln>
        </p:spPr>
      </p:sp>
      <p:pic>
        <p:nvPicPr>
          <p:cNvPr id="6" name="icon-user" descr="preencoded.png">    </p:cNvPr>
          <p:cNvPicPr>
            <a:picLocks noChangeAspect="1"/>
          </p:cNvPicPr>
          <p:nvPr/>
        </p:nvPicPr>
        <p:blipFill>
          <a:blip r:embed="rId2"/>
          <a:stretch>
            <a:fillRect/>
          </a:stretch>
        </p:blipFill>
        <p:spPr>
          <a:xfrm>
            <a:off x="6347765" y="1958645"/>
            <a:ext cx="380390" cy="380390"/>
          </a:xfrm>
          <a:prstGeom prst="rect">
            <a:avLst/>
          </a:prstGeom>
        </p:spPr>
      </p:pic>
      <p:sp>
        <p:nvSpPr>
          <p:cNvPr id="7" name="Text 3"/>
          <p:cNvSpPr txBox="1"/>
          <p:nvPr/>
        </p:nvSpPr>
        <p:spPr>
          <a:xfrm>
            <a:off x="7086600" y="1600200"/>
            <a:ext cx="4389120" cy="411480"/>
          </a:xfrm>
          <a:prstGeom prst="rect">
            <a:avLst/>
          </a:prstGeom>
          <a:noFill/>
          <a:ln/>
        </p:spPr>
        <p:txBody>
          <a:bodyPr wrap="square" rtlCol="0" anchor="t"/>
          <a:lstStyle/>
          <a:p>
            <a:pPr indent="0" marL="0">
              <a:buNone/>
            </a:pPr>
            <a:r>
              <a:rPr lang="en-US" sz="1900" b="1" dirty="0">
                <a:solidFill>
                  <a:schemeClr val="tx2"/>
                </a:solidFill>
              </a:rPr>
              <a:t>Bệnh nhân</a:t>
            </a:r>
            <a:endParaRPr lang="en-US" sz="1900" dirty="0"/>
          </a:p>
        </p:txBody>
      </p:sp>
      <p:sp>
        <p:nvSpPr>
          <p:cNvPr id="8" name="Text 4"/>
          <p:cNvSpPr txBox="1"/>
          <p:nvPr/>
        </p:nvSpPr>
        <p:spPr>
          <a:xfrm>
            <a:off x="7086600" y="2011680"/>
            <a:ext cx="4389120" cy="731520"/>
          </a:xfrm>
          <a:prstGeom prst="rect">
            <a:avLst/>
          </a:prstGeom>
          <a:noFill/>
          <a:ln/>
        </p:spPr>
        <p:txBody>
          <a:bodyPr wrap="square" rtlCol="0" anchor="t"/>
          <a:lstStyle/>
          <a:p>
            <a:pPr indent="0" marL="0">
              <a:buNone/>
            </a:pPr>
            <a:r>
              <a:rPr lang="en-US" sz="1500" dirty="0">
                <a:solidFill>
                  <a:schemeClr val="accent5"/>
                </a:solidFill>
              </a:rPr>
              <a:t>Đăng ký, đặt lịch, xem và hủy lịch của mình</a:t>
            </a:r>
            <a:endParaRPr lang="en-US" sz="1500" dirty="0"/>
          </a:p>
        </p:txBody>
      </p:sp>
      <p:sp>
        <p:nvSpPr>
          <p:cNvPr id="9" name="actor-1"/>
          <p:cNvSpPr/>
          <p:nvPr/>
        </p:nvSpPr>
        <p:spPr>
          <a:xfrm>
            <a:off x="5943600" y="3063240"/>
            <a:ext cx="5669280" cy="1371600"/>
          </a:xfrm>
          <a:prstGeom prst="roundRect">
            <a:avLst>
              <a:gd name="adj" fmla="val 8000"/>
            </a:avLst>
          </a:prstGeom>
          <a:solidFill>
            <a:schemeClr val="bg2"/>
          </a:solidFill>
          <a:ln w="12700">
            <a:solidFill>
              <a:schemeClr val="bg2"/>
            </a:solidFill>
            <a:prstDash val="solid"/>
          </a:ln>
        </p:spPr>
      </p:sp>
      <p:sp>
        <p:nvSpPr>
          <p:cNvPr id="10" name="icon-bg-desk"/>
          <p:cNvSpPr/>
          <p:nvPr/>
        </p:nvSpPr>
        <p:spPr>
          <a:xfrm>
            <a:off x="6172200" y="3383280"/>
            <a:ext cx="731520" cy="731520"/>
          </a:xfrm>
          <a:prstGeom prst="ellipse">
            <a:avLst/>
          </a:prstGeom>
          <a:solidFill>
            <a:schemeClr val="accent1"/>
          </a:solidFill>
          <a:ln w="12700">
            <a:solidFill>
              <a:schemeClr val="accent1"/>
            </a:solidFill>
            <a:prstDash val="solid"/>
          </a:ln>
        </p:spPr>
      </p:sp>
      <p:pic>
        <p:nvPicPr>
          <p:cNvPr id="11" name="icon-desk" descr="preencoded.png">    </p:cNvPr>
          <p:cNvPicPr>
            <a:picLocks noChangeAspect="1"/>
          </p:cNvPicPr>
          <p:nvPr/>
        </p:nvPicPr>
        <p:blipFill>
          <a:blip r:embed="rId3"/>
          <a:stretch>
            <a:fillRect/>
          </a:stretch>
        </p:blipFill>
        <p:spPr>
          <a:xfrm>
            <a:off x="6347765" y="3558845"/>
            <a:ext cx="380390" cy="380390"/>
          </a:xfrm>
          <a:prstGeom prst="rect">
            <a:avLst/>
          </a:prstGeom>
        </p:spPr>
      </p:pic>
      <p:sp>
        <p:nvSpPr>
          <p:cNvPr id="12" name="Text 7"/>
          <p:cNvSpPr txBox="1"/>
          <p:nvPr/>
        </p:nvSpPr>
        <p:spPr>
          <a:xfrm>
            <a:off x="7086600" y="3200400"/>
            <a:ext cx="4389120" cy="411480"/>
          </a:xfrm>
          <a:prstGeom prst="rect">
            <a:avLst/>
          </a:prstGeom>
          <a:noFill/>
          <a:ln/>
        </p:spPr>
        <p:txBody>
          <a:bodyPr wrap="square" rtlCol="0" anchor="t"/>
          <a:lstStyle/>
          <a:p>
            <a:pPr indent="0" marL="0">
              <a:buNone/>
            </a:pPr>
            <a:r>
              <a:rPr lang="en-US" sz="1900" b="1" dirty="0">
                <a:solidFill>
                  <a:schemeClr val="tx2"/>
                </a:solidFill>
              </a:rPr>
              <a:t>Lễ tân</a:t>
            </a:r>
            <a:endParaRPr lang="en-US" sz="1900" dirty="0"/>
          </a:p>
        </p:txBody>
      </p:sp>
      <p:sp>
        <p:nvSpPr>
          <p:cNvPr id="13" name="Text 8"/>
          <p:cNvSpPr txBox="1"/>
          <p:nvPr/>
        </p:nvSpPr>
        <p:spPr>
          <a:xfrm>
            <a:off x="7086600" y="3611880"/>
            <a:ext cx="4389120" cy="731520"/>
          </a:xfrm>
          <a:prstGeom prst="rect">
            <a:avLst/>
          </a:prstGeom>
          <a:noFill/>
          <a:ln/>
        </p:spPr>
        <p:txBody>
          <a:bodyPr wrap="square" rtlCol="0" anchor="t"/>
          <a:lstStyle/>
          <a:p>
            <a:pPr indent="0" marL="0">
              <a:buNone/>
            </a:pPr>
            <a:r>
              <a:rPr lang="en-US" sz="1500" dirty="0">
                <a:solidFill>
                  <a:schemeClr val="accent5"/>
                </a:solidFill>
              </a:rPr>
              <a:t>Xem, tìm kiếm, xác nhận, từ chối, đánh dấu đã khám</a:t>
            </a:r>
            <a:endParaRPr lang="en-US" sz="1500" dirty="0"/>
          </a:p>
        </p:txBody>
      </p:sp>
      <p:sp>
        <p:nvSpPr>
          <p:cNvPr id="14" name="actor-2"/>
          <p:cNvSpPr/>
          <p:nvPr/>
        </p:nvSpPr>
        <p:spPr>
          <a:xfrm>
            <a:off x="5943600" y="4663440"/>
            <a:ext cx="5669280" cy="1371600"/>
          </a:xfrm>
          <a:prstGeom prst="roundRect">
            <a:avLst>
              <a:gd name="adj" fmla="val 8000"/>
            </a:avLst>
          </a:prstGeom>
          <a:solidFill>
            <a:schemeClr val="bg2"/>
          </a:solidFill>
          <a:ln w="12700">
            <a:solidFill>
              <a:schemeClr val="bg2"/>
            </a:solidFill>
            <a:prstDash val="solid"/>
          </a:ln>
        </p:spPr>
      </p:sp>
      <p:sp>
        <p:nvSpPr>
          <p:cNvPr id="15" name="icon-bg-md"/>
          <p:cNvSpPr/>
          <p:nvPr/>
        </p:nvSpPr>
        <p:spPr>
          <a:xfrm>
            <a:off x="6172200" y="4983480"/>
            <a:ext cx="731520" cy="731520"/>
          </a:xfrm>
          <a:prstGeom prst="ellipse">
            <a:avLst/>
          </a:prstGeom>
          <a:solidFill>
            <a:schemeClr val="accent1"/>
          </a:solidFill>
          <a:ln w="12700">
            <a:solidFill>
              <a:schemeClr val="accent1"/>
            </a:solidFill>
            <a:prstDash val="solid"/>
          </a:ln>
        </p:spPr>
      </p:sp>
      <p:pic>
        <p:nvPicPr>
          <p:cNvPr id="16" name="icon-md" descr="preencoded.png">    </p:cNvPr>
          <p:cNvPicPr>
            <a:picLocks noChangeAspect="1"/>
          </p:cNvPicPr>
          <p:nvPr/>
        </p:nvPicPr>
        <p:blipFill>
          <a:blip r:embed="rId4"/>
          <a:stretch>
            <a:fillRect/>
          </a:stretch>
        </p:blipFill>
        <p:spPr>
          <a:xfrm>
            <a:off x="6347765" y="5159045"/>
            <a:ext cx="380390" cy="380390"/>
          </a:xfrm>
          <a:prstGeom prst="rect">
            <a:avLst/>
          </a:prstGeom>
        </p:spPr>
      </p:pic>
      <p:sp>
        <p:nvSpPr>
          <p:cNvPr id="17" name="Text 11"/>
          <p:cNvSpPr txBox="1"/>
          <p:nvPr/>
        </p:nvSpPr>
        <p:spPr>
          <a:xfrm>
            <a:off x="7086600" y="4800600"/>
            <a:ext cx="4389120" cy="411480"/>
          </a:xfrm>
          <a:prstGeom prst="rect">
            <a:avLst/>
          </a:prstGeom>
          <a:noFill/>
          <a:ln/>
        </p:spPr>
        <p:txBody>
          <a:bodyPr wrap="square" rtlCol="0" anchor="t"/>
          <a:lstStyle/>
          <a:p>
            <a:pPr indent="0" marL="0">
              <a:buNone/>
            </a:pPr>
            <a:r>
              <a:rPr lang="en-US" sz="1900" b="1" dirty="0">
                <a:solidFill>
                  <a:schemeClr val="tx2"/>
                </a:solidFill>
              </a:rPr>
              <a:t>Quản trị viên</a:t>
            </a:r>
            <a:endParaRPr lang="en-US" sz="1900" dirty="0"/>
          </a:p>
        </p:txBody>
      </p:sp>
      <p:sp>
        <p:nvSpPr>
          <p:cNvPr id="18" name="Text 12"/>
          <p:cNvSpPr txBox="1"/>
          <p:nvPr/>
        </p:nvSpPr>
        <p:spPr>
          <a:xfrm>
            <a:off x="7086600" y="5212080"/>
            <a:ext cx="4389120" cy="731520"/>
          </a:xfrm>
          <a:prstGeom prst="rect">
            <a:avLst/>
          </a:prstGeom>
          <a:noFill/>
          <a:ln/>
        </p:spPr>
        <p:txBody>
          <a:bodyPr wrap="square" rtlCol="0" anchor="t"/>
          <a:lstStyle/>
          <a:p>
            <a:pPr indent="0" marL="0">
              <a:buNone/>
            </a:pPr>
            <a:r>
              <a:rPr lang="en-US" sz="1500" dirty="0">
                <a:solidFill>
                  <a:schemeClr val="accent5"/>
                </a:solidFill>
              </a:rPr>
              <a:t>Quyền của lễ tân + quản lý chuyên khoa, bác sĩ, khung giờ, bệnh nhân, thống kê</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Cơ sở dữ liệu QLDatLichKham – 7 bảng</a:t>
            </a:r>
            <a:endParaRPr lang="en-US" sz="3200" dirty="0"/>
          </a:p>
        </p:txBody>
      </p:sp>
      <p:pic>
        <p:nvPicPr>
          <p:cNvPr id="3" name="mo-hinh-du-lieu" descr="mo-hinh-du-lieu">    </p:cNvPr>
          <p:cNvPicPr>
            <a:picLocks noChangeAspect="1"/>
          </p:cNvPicPr>
          <p:nvPr/>
        </p:nvPicPr>
        <p:blipFill>
          <a:blip r:embed="rId1"/>
          <a:stretch>
            <a:fillRect/>
          </a:stretch>
        </p:blipFill>
        <p:spPr>
          <a:xfrm>
            <a:off x="548640" y="1332974"/>
            <a:ext cx="7589520" cy="3140491"/>
          </a:xfrm>
          <a:prstGeom prst="rect">
            <a:avLst/>
          </a:prstGeom>
        </p:spPr>
      </p:pic>
      <p:sp>
        <p:nvSpPr>
          <p:cNvPr id="4" name="db-objects"/>
          <p:cNvSpPr/>
          <p:nvPr/>
        </p:nvSpPr>
        <p:spPr>
          <a:xfrm>
            <a:off x="8412480" y="1325880"/>
            <a:ext cx="3200400" cy="4846320"/>
          </a:xfrm>
          <a:prstGeom prst="roundRect">
            <a:avLst>
              <a:gd name="adj" fmla="val 3429"/>
            </a:avLst>
          </a:prstGeom>
          <a:solidFill>
            <a:schemeClr val="tx2"/>
          </a:solidFill>
          <a:ln w="12700">
            <a:solidFill>
              <a:schemeClr val="tx2"/>
            </a:solidFill>
            <a:prstDash val="solid"/>
          </a:ln>
        </p:spPr>
      </p:sp>
      <p:sp>
        <p:nvSpPr>
          <p:cNvPr id="5" name="Text 2"/>
          <p:cNvSpPr txBox="1"/>
          <p:nvPr/>
        </p:nvSpPr>
        <p:spPr>
          <a:xfrm>
            <a:off x="8641080" y="1463040"/>
            <a:ext cx="2834640" cy="457200"/>
          </a:xfrm>
          <a:prstGeom prst="rect">
            <a:avLst/>
          </a:prstGeom>
          <a:noFill/>
          <a:ln/>
        </p:spPr>
        <p:txBody>
          <a:bodyPr wrap="square" rtlCol="0" anchor="t"/>
          <a:lstStyle/>
          <a:p>
            <a:pPr indent="0" marL="0">
              <a:buNone/>
            </a:pPr>
            <a:r>
              <a:rPr lang="en-US" sz="1900" b="1" dirty="0">
                <a:solidFill>
                  <a:schemeClr val="accent2"/>
                </a:solidFill>
              </a:rPr>
              <a:t>Đối tượng hỗ trợ</a:t>
            </a:r>
            <a:endParaRPr lang="en-US" sz="1900" dirty="0"/>
          </a:p>
        </p:txBody>
      </p:sp>
      <p:sp>
        <p:nvSpPr>
          <p:cNvPr id="6" name="Text 3"/>
          <p:cNvSpPr txBox="1"/>
          <p:nvPr/>
        </p:nvSpPr>
        <p:spPr>
          <a:xfrm>
            <a:off x="8641080" y="1965960"/>
            <a:ext cx="2834640" cy="4023360"/>
          </a:xfrm>
          <a:prstGeom prst="rect">
            <a:avLst/>
          </a:prstGeom>
          <a:noFill/>
          <a:ln/>
        </p:spPr>
        <p:txBody>
          <a:bodyPr wrap="square" rtlCol="0" anchor="t"/>
          <a:lstStyle/>
          <a:p>
            <a:pPr indent="0" marL="0">
              <a:spcAft>
                <a:spcPts val="300"/>
              </a:spcAft>
              <a:buNone/>
            </a:pPr>
            <a:r>
              <a:rPr lang="en-US" sz="1500" b="1" dirty="0">
                <a:solidFill>
                  <a:schemeClr val="bg1"/>
                </a:solidFill>
              </a:rPr>
              <a:t>vw_LichHenChiTiet</a:t>
            </a:r>
            <a:endParaRPr lang="en-US" sz="1500" dirty="0"/>
          </a:p>
          <a:p>
            <a:pPr indent="0" marL="0">
              <a:spcAft>
                <a:spcPts val="300"/>
              </a:spcAft>
              <a:buNone/>
            </a:pPr>
            <a:r>
              <a:rPr lang="en-US" sz="1500" dirty="0">
                <a:solidFill>
                  <a:schemeClr val="bg1"/>
                </a:solidFill>
              </a:rPr>
              <a:t>ghép 5 bảng cho tra cứu</a:t>
            </a:r>
            <a:endParaRPr lang="en-US" sz="1500" dirty="0"/>
          </a:p>
          <a:p>
            <a:pPr indent="0" marL="0">
              <a:spcAft>
                <a:spcPts val="300"/>
              </a:spcAft>
              <a:buNone/>
            </a:pPr>
            <a:r>
              <a:rPr lang="en-US" sz="1500" b="1" dirty="0">
                <a:solidFill>
                  <a:schemeClr val="bg1"/>
                </a:solidFill>
              </a:rPr>
              <a:t>sp_DatLich</a:t>
            </a:r>
            <a:endParaRPr lang="en-US" sz="1500" dirty="0"/>
          </a:p>
          <a:p>
            <a:pPr indent="0" marL="0">
              <a:spcAft>
                <a:spcPts val="300"/>
              </a:spcAft>
              <a:buNone/>
            </a:pPr>
            <a:r>
              <a:rPr lang="en-US" sz="1500" dirty="0">
                <a:solidFill>
                  <a:schemeClr val="bg1"/>
                </a:solidFill>
              </a:rPr>
              <a:t>kiểm tra rồi thêm lịch</a:t>
            </a:r>
            <a:endParaRPr lang="en-US" sz="1500" dirty="0"/>
          </a:p>
          <a:p>
            <a:pPr indent="0" marL="0">
              <a:spcAft>
                <a:spcPts val="300"/>
              </a:spcAft>
              <a:buNone/>
            </a:pPr>
            <a:r>
              <a:rPr lang="en-US" sz="1500" b="1" dirty="0">
                <a:solidFill>
                  <a:schemeClr val="bg1"/>
                </a:solidFill>
              </a:rPr>
              <a:t>sp_HuyLich</a:t>
            </a:r>
            <a:endParaRPr lang="en-US" sz="1500" dirty="0"/>
          </a:p>
          <a:p>
            <a:pPr indent="0" marL="0">
              <a:spcAft>
                <a:spcPts val="300"/>
              </a:spcAft>
              <a:buNone/>
            </a:pPr>
            <a:r>
              <a:rPr lang="en-US" sz="1500" dirty="0">
                <a:solidFill>
                  <a:schemeClr val="bg1"/>
                </a:solidFill>
              </a:rPr>
              <a:t>hủy trước giờ khám 2 giờ</a:t>
            </a:r>
            <a:endParaRPr lang="en-US" sz="1500" dirty="0"/>
          </a:p>
          <a:p>
            <a:pPr indent="0" marL="0">
              <a:spcAft>
                <a:spcPts val="300"/>
              </a:spcAft>
              <a:buNone/>
            </a:pPr>
            <a:r>
              <a:rPr lang="en-US" sz="1500" b="1" dirty="0">
                <a:solidFill>
                  <a:schemeClr val="bg1"/>
                </a:solidFill>
              </a:rPr>
              <a:t>sp_ThongKeTheoThang</a:t>
            </a:r>
            <a:endParaRPr lang="en-US" sz="1500" dirty="0"/>
          </a:p>
          <a:p>
            <a:pPr indent="0" marL="0">
              <a:spcAft>
                <a:spcPts val="300"/>
              </a:spcAft>
              <a:buNone/>
            </a:pPr>
            <a:r>
              <a:rPr lang="en-US" sz="1500" dirty="0">
                <a:solidFill>
                  <a:schemeClr val="bg1"/>
                </a:solidFill>
              </a:rPr>
              <a:t>số lịch theo 12 tháng</a:t>
            </a:r>
            <a:endParaRPr lang="en-US" sz="1500" dirty="0"/>
          </a:p>
        </p:txBody>
      </p:sp>
      <p:sp>
        <p:nvSpPr>
          <p:cNvPr id="7" name="Text 4"/>
          <p:cNvSpPr txBox="1"/>
          <p:nvPr/>
        </p:nvSpPr>
        <p:spPr>
          <a:xfrm>
            <a:off x="548640" y="4709160"/>
            <a:ext cx="7589520" cy="1280160"/>
          </a:xfrm>
          <a:prstGeom prst="rect">
            <a:avLst/>
          </a:prstGeom>
          <a:noFill/>
          <a:ln/>
        </p:spPr>
        <p:txBody>
          <a:bodyPr wrap="square" rtlCol="0" anchor="t"/>
          <a:lstStyle/>
          <a:p>
            <a:pPr indent="0" marL="0">
              <a:buNone/>
            </a:pPr>
            <a:r>
              <a:rPr lang="en-US" sz="1600" dirty="0">
                <a:solidFill>
                  <a:schemeClr val="tx1"/>
                </a:solidFill>
              </a:rPr>
              <a:t>Ràng buộc: PK, FK, UNIQUE, CHECK (ngày sinh, giới tính, SĐT, giờ, trạng thái) và chỉ mục duy nhất có điều kiện UX_LichHen_KhungGio</a:t>
            </a:r>
            <a:endParaRPr lang="en-US" sz="16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Quy tắc nghiệp vụ được bảo đảm ở 2 lớp</a:t>
            </a:r>
            <a:endParaRPr lang="en-US" sz="3200" dirty="0"/>
          </a:p>
        </p:txBody>
      </p:sp>
      <p:pic>
        <p:nvPicPr>
          <p:cNvPr id="3" name="so-do-trang-thai" descr="so-do-trang-thai">    </p:cNvPr>
          <p:cNvPicPr>
            <a:picLocks noChangeAspect="1"/>
          </p:cNvPicPr>
          <p:nvPr/>
        </p:nvPicPr>
        <p:blipFill>
          <a:blip r:embed="rId1"/>
          <a:stretch>
            <a:fillRect/>
          </a:stretch>
        </p:blipFill>
        <p:spPr>
          <a:xfrm>
            <a:off x="548640" y="1283970"/>
            <a:ext cx="11064240" cy="2095500"/>
          </a:xfrm>
          <a:prstGeom prst="rect">
            <a:avLst/>
          </a:prstGeom>
        </p:spPr>
      </p:pic>
      <p:sp>
        <p:nvSpPr>
          <p:cNvPr id="4" name="rule-0"/>
          <p:cNvSpPr/>
          <p:nvPr/>
        </p:nvSpPr>
        <p:spPr>
          <a:xfrm>
            <a:off x="548640" y="3657600"/>
            <a:ext cx="2606040" cy="2468880"/>
          </a:xfrm>
          <a:prstGeom prst="roundRect">
            <a:avLst>
              <a:gd name="adj" fmla="val 4444"/>
            </a:avLst>
          </a:prstGeom>
          <a:solidFill>
            <a:schemeClr val="bg2"/>
          </a:solidFill>
          <a:ln w="12700">
            <a:solidFill>
              <a:schemeClr val="bg2"/>
            </a:solidFill>
            <a:prstDash val="solid"/>
          </a:ln>
        </p:spPr>
      </p:sp>
      <p:sp>
        <p:nvSpPr>
          <p:cNvPr id="5" name="icon-bg-ban"/>
          <p:cNvSpPr/>
          <p:nvPr/>
        </p:nvSpPr>
        <p:spPr>
          <a:xfrm>
            <a:off x="777240" y="3840480"/>
            <a:ext cx="640080" cy="640080"/>
          </a:xfrm>
          <a:prstGeom prst="ellipse">
            <a:avLst/>
          </a:prstGeom>
          <a:solidFill>
            <a:schemeClr val="accent1"/>
          </a:solidFill>
          <a:ln w="12700">
            <a:solidFill>
              <a:schemeClr val="accent1"/>
            </a:solidFill>
            <a:prstDash val="solid"/>
          </a:ln>
        </p:spPr>
      </p:sp>
      <p:pic>
        <p:nvPicPr>
          <p:cNvPr id="6" name="icon-ban" descr="preencoded.png">    </p:cNvPr>
          <p:cNvPicPr>
            <a:picLocks noChangeAspect="1"/>
          </p:cNvPicPr>
          <p:nvPr/>
        </p:nvPicPr>
        <p:blipFill>
          <a:blip r:embed="rId2"/>
          <a:stretch>
            <a:fillRect/>
          </a:stretch>
        </p:blipFill>
        <p:spPr>
          <a:xfrm>
            <a:off x="930859" y="3994099"/>
            <a:ext cx="332842" cy="332842"/>
          </a:xfrm>
          <a:prstGeom prst="rect">
            <a:avLst/>
          </a:prstGeom>
        </p:spPr>
      </p:pic>
      <p:sp>
        <p:nvSpPr>
          <p:cNvPr id="7" name="Text 3"/>
          <p:cNvSpPr txBox="1"/>
          <p:nvPr/>
        </p:nvSpPr>
        <p:spPr>
          <a:xfrm>
            <a:off x="777240" y="4572000"/>
            <a:ext cx="2194560" cy="411480"/>
          </a:xfrm>
          <a:prstGeom prst="rect">
            <a:avLst/>
          </a:prstGeom>
          <a:noFill/>
          <a:ln/>
        </p:spPr>
        <p:txBody>
          <a:bodyPr wrap="square" rtlCol="0" anchor="t"/>
          <a:lstStyle/>
          <a:p>
            <a:pPr indent="0" marL="0">
              <a:buNone/>
            </a:pPr>
            <a:r>
              <a:rPr lang="en-US" sz="1700" b="1" dirty="0">
                <a:solidFill>
                  <a:schemeClr val="tx2"/>
                </a:solidFill>
              </a:rPr>
              <a:t>Không đặt trùng</a:t>
            </a:r>
            <a:endParaRPr lang="en-US" sz="1700" dirty="0"/>
          </a:p>
        </p:txBody>
      </p:sp>
      <p:sp>
        <p:nvSpPr>
          <p:cNvPr id="8" name="Text 4"/>
          <p:cNvSpPr txBox="1"/>
          <p:nvPr/>
        </p:nvSpPr>
        <p:spPr>
          <a:xfrm>
            <a:off x="777240" y="4983480"/>
            <a:ext cx="2240280" cy="1051560"/>
          </a:xfrm>
          <a:prstGeom prst="rect">
            <a:avLst/>
          </a:prstGeom>
          <a:noFill/>
          <a:ln/>
        </p:spPr>
        <p:txBody>
          <a:bodyPr wrap="square" rtlCol="0" anchor="t"/>
          <a:lstStyle/>
          <a:p>
            <a:pPr indent="0" marL="0">
              <a:buNone/>
            </a:pPr>
            <a:r>
              <a:rPr lang="en-US" sz="1400" dirty="0">
                <a:solidFill>
                  <a:schemeClr val="accent5"/>
                </a:solidFill>
              </a:rPr>
              <a:t>Mỗi khung giờ chỉ 1 lịch còn hiệu lực (filtered unique index)</a:t>
            </a:r>
            <a:endParaRPr lang="en-US" sz="1400" dirty="0"/>
          </a:p>
        </p:txBody>
      </p:sp>
      <p:sp>
        <p:nvSpPr>
          <p:cNvPr id="9" name="rule-1"/>
          <p:cNvSpPr/>
          <p:nvPr/>
        </p:nvSpPr>
        <p:spPr>
          <a:xfrm>
            <a:off x="3364992" y="3657600"/>
            <a:ext cx="2606040" cy="2468880"/>
          </a:xfrm>
          <a:prstGeom prst="roundRect">
            <a:avLst>
              <a:gd name="adj" fmla="val 4444"/>
            </a:avLst>
          </a:prstGeom>
          <a:solidFill>
            <a:schemeClr val="bg2"/>
          </a:solidFill>
          <a:ln w="12700">
            <a:solidFill>
              <a:schemeClr val="bg2"/>
            </a:solidFill>
            <a:prstDash val="solid"/>
          </a:ln>
        </p:spPr>
      </p:sp>
      <p:sp>
        <p:nvSpPr>
          <p:cNvPr id="10" name="icon-bg-clock"/>
          <p:cNvSpPr/>
          <p:nvPr/>
        </p:nvSpPr>
        <p:spPr>
          <a:xfrm>
            <a:off x="3593592" y="3840480"/>
            <a:ext cx="640080" cy="640080"/>
          </a:xfrm>
          <a:prstGeom prst="ellipse">
            <a:avLst/>
          </a:prstGeom>
          <a:solidFill>
            <a:schemeClr val="accent1"/>
          </a:solidFill>
          <a:ln w="12700">
            <a:solidFill>
              <a:schemeClr val="accent1"/>
            </a:solidFill>
            <a:prstDash val="solid"/>
          </a:ln>
        </p:spPr>
      </p:sp>
      <p:pic>
        <p:nvPicPr>
          <p:cNvPr id="11" name="icon-clock" descr="preencoded.png">    </p:cNvPr>
          <p:cNvPicPr>
            <a:picLocks noChangeAspect="1"/>
          </p:cNvPicPr>
          <p:nvPr/>
        </p:nvPicPr>
        <p:blipFill>
          <a:blip r:embed="rId3"/>
          <a:stretch>
            <a:fillRect/>
          </a:stretch>
        </p:blipFill>
        <p:spPr>
          <a:xfrm>
            <a:off x="3747211" y="3994099"/>
            <a:ext cx="332842" cy="332842"/>
          </a:xfrm>
          <a:prstGeom prst="rect">
            <a:avLst/>
          </a:prstGeom>
        </p:spPr>
      </p:pic>
      <p:sp>
        <p:nvSpPr>
          <p:cNvPr id="12" name="Text 7"/>
          <p:cNvSpPr txBox="1"/>
          <p:nvPr/>
        </p:nvSpPr>
        <p:spPr>
          <a:xfrm>
            <a:off x="3593592" y="4572000"/>
            <a:ext cx="2194560" cy="411480"/>
          </a:xfrm>
          <a:prstGeom prst="rect">
            <a:avLst/>
          </a:prstGeom>
          <a:noFill/>
          <a:ln/>
        </p:spPr>
        <p:txBody>
          <a:bodyPr wrap="square" rtlCol="0" anchor="t"/>
          <a:lstStyle/>
          <a:p>
            <a:pPr indent="0" marL="0">
              <a:buNone/>
            </a:pPr>
            <a:r>
              <a:rPr lang="en-US" sz="1700" b="1" dirty="0">
                <a:solidFill>
                  <a:schemeClr val="tx2"/>
                </a:solidFill>
              </a:rPr>
              <a:t>Không đặt giờ đã qua</a:t>
            </a:r>
            <a:endParaRPr lang="en-US" sz="1700" dirty="0"/>
          </a:p>
        </p:txBody>
      </p:sp>
      <p:sp>
        <p:nvSpPr>
          <p:cNvPr id="13" name="Text 8"/>
          <p:cNvSpPr txBox="1"/>
          <p:nvPr/>
        </p:nvSpPr>
        <p:spPr>
          <a:xfrm>
            <a:off x="3593592" y="4983480"/>
            <a:ext cx="2240280" cy="1051560"/>
          </a:xfrm>
          <a:prstGeom prst="rect">
            <a:avLst/>
          </a:prstGeom>
          <a:noFill/>
          <a:ln/>
        </p:spPr>
        <p:txBody>
          <a:bodyPr wrap="square" rtlCol="0" anchor="t"/>
          <a:lstStyle/>
          <a:p>
            <a:pPr indent="0" marL="0">
              <a:buNone/>
            </a:pPr>
            <a:r>
              <a:rPr lang="en-US" sz="1400" dirty="0">
                <a:solidFill>
                  <a:schemeClr val="accent5"/>
                </a:solidFill>
              </a:rPr>
              <a:t>sp_DatLich kiểm tra thời điểm khám</a:t>
            </a:r>
            <a:endParaRPr lang="en-US" sz="1400" dirty="0"/>
          </a:p>
        </p:txBody>
      </p:sp>
      <p:sp>
        <p:nvSpPr>
          <p:cNvPr id="14" name="rule-2"/>
          <p:cNvSpPr/>
          <p:nvPr/>
        </p:nvSpPr>
        <p:spPr>
          <a:xfrm>
            <a:off x="6181344" y="3657600"/>
            <a:ext cx="2606040" cy="2468880"/>
          </a:xfrm>
          <a:prstGeom prst="roundRect">
            <a:avLst>
              <a:gd name="adj" fmla="val 4444"/>
            </a:avLst>
          </a:prstGeom>
          <a:solidFill>
            <a:schemeClr val="bg2"/>
          </a:solidFill>
          <a:ln w="12700">
            <a:solidFill>
              <a:schemeClr val="bg2"/>
            </a:solidFill>
            <a:prstDash val="solid"/>
          </a:ln>
        </p:spPr>
      </p:sp>
      <p:sp>
        <p:nvSpPr>
          <p:cNvPr id="15" name="icon-bg-cal"/>
          <p:cNvSpPr/>
          <p:nvPr/>
        </p:nvSpPr>
        <p:spPr>
          <a:xfrm>
            <a:off x="6409944" y="3840480"/>
            <a:ext cx="640080" cy="640080"/>
          </a:xfrm>
          <a:prstGeom prst="ellipse">
            <a:avLst/>
          </a:prstGeom>
          <a:solidFill>
            <a:schemeClr val="accent1"/>
          </a:solidFill>
          <a:ln w="12700">
            <a:solidFill>
              <a:schemeClr val="accent1"/>
            </a:solidFill>
            <a:prstDash val="solid"/>
          </a:ln>
        </p:spPr>
      </p:sp>
      <p:pic>
        <p:nvPicPr>
          <p:cNvPr id="16" name="icon-cal" descr="preencoded.png">    </p:cNvPr>
          <p:cNvPicPr>
            <a:picLocks noChangeAspect="1"/>
          </p:cNvPicPr>
          <p:nvPr/>
        </p:nvPicPr>
        <p:blipFill>
          <a:blip r:embed="rId4"/>
          <a:stretch>
            <a:fillRect/>
          </a:stretch>
        </p:blipFill>
        <p:spPr>
          <a:xfrm>
            <a:off x="6563563" y="3994099"/>
            <a:ext cx="332842" cy="332842"/>
          </a:xfrm>
          <a:prstGeom prst="rect">
            <a:avLst/>
          </a:prstGeom>
        </p:spPr>
      </p:pic>
      <p:sp>
        <p:nvSpPr>
          <p:cNvPr id="17" name="Text 11"/>
          <p:cNvSpPr txBox="1"/>
          <p:nvPr/>
        </p:nvSpPr>
        <p:spPr>
          <a:xfrm>
            <a:off x="6409944" y="4572000"/>
            <a:ext cx="2194560" cy="411480"/>
          </a:xfrm>
          <a:prstGeom prst="rect">
            <a:avLst/>
          </a:prstGeom>
          <a:noFill/>
          <a:ln/>
        </p:spPr>
        <p:txBody>
          <a:bodyPr wrap="square" rtlCol="0" anchor="t"/>
          <a:lstStyle/>
          <a:p>
            <a:pPr indent="0" marL="0">
              <a:buNone/>
            </a:pPr>
            <a:r>
              <a:rPr lang="en-US" sz="1700" b="1" dirty="0">
                <a:solidFill>
                  <a:schemeClr val="tx2"/>
                </a:solidFill>
              </a:rPr>
              <a:t>Hủy trước 2 giờ</a:t>
            </a:r>
            <a:endParaRPr lang="en-US" sz="1700" dirty="0"/>
          </a:p>
        </p:txBody>
      </p:sp>
      <p:sp>
        <p:nvSpPr>
          <p:cNvPr id="18" name="Text 12"/>
          <p:cNvSpPr txBox="1"/>
          <p:nvPr/>
        </p:nvSpPr>
        <p:spPr>
          <a:xfrm>
            <a:off x="6409944" y="4983480"/>
            <a:ext cx="2240280" cy="1051560"/>
          </a:xfrm>
          <a:prstGeom prst="rect">
            <a:avLst/>
          </a:prstGeom>
          <a:noFill/>
          <a:ln/>
        </p:spPr>
        <p:txBody>
          <a:bodyPr wrap="square" rtlCol="0" anchor="t"/>
          <a:lstStyle/>
          <a:p>
            <a:pPr indent="0" marL="0">
              <a:buNone/>
            </a:pPr>
            <a:r>
              <a:rPr lang="en-US" sz="1400" dirty="0">
                <a:solidFill>
                  <a:schemeClr val="accent5"/>
                </a:solidFill>
              </a:rPr>
              <a:t>sp_HuyLich báo lỗi nếu quá hạn</a:t>
            </a:r>
            <a:endParaRPr lang="en-US" sz="1400" dirty="0"/>
          </a:p>
        </p:txBody>
      </p:sp>
      <p:sp>
        <p:nvSpPr>
          <p:cNvPr id="19" name="rule-3"/>
          <p:cNvSpPr/>
          <p:nvPr/>
        </p:nvSpPr>
        <p:spPr>
          <a:xfrm>
            <a:off x="8997696" y="3657600"/>
            <a:ext cx="2606040" cy="2468880"/>
          </a:xfrm>
          <a:prstGeom prst="roundRect">
            <a:avLst>
              <a:gd name="adj" fmla="val 4444"/>
            </a:avLst>
          </a:prstGeom>
          <a:solidFill>
            <a:schemeClr val="bg2"/>
          </a:solidFill>
          <a:ln w="12700">
            <a:solidFill>
              <a:schemeClr val="bg2"/>
            </a:solidFill>
            <a:prstDash val="solid"/>
          </a:ln>
        </p:spPr>
      </p:sp>
      <p:sp>
        <p:nvSpPr>
          <p:cNvPr id="20" name="icon-bg-lock"/>
          <p:cNvSpPr/>
          <p:nvPr/>
        </p:nvSpPr>
        <p:spPr>
          <a:xfrm>
            <a:off x="9226296" y="3840480"/>
            <a:ext cx="640080" cy="640080"/>
          </a:xfrm>
          <a:prstGeom prst="ellipse">
            <a:avLst/>
          </a:prstGeom>
          <a:solidFill>
            <a:schemeClr val="accent1"/>
          </a:solidFill>
          <a:ln w="12700">
            <a:solidFill>
              <a:schemeClr val="accent1"/>
            </a:solidFill>
            <a:prstDash val="solid"/>
          </a:ln>
        </p:spPr>
      </p:sp>
      <p:pic>
        <p:nvPicPr>
          <p:cNvPr id="21" name="icon-lock" descr="preencoded.png">    </p:cNvPr>
          <p:cNvPicPr>
            <a:picLocks noChangeAspect="1"/>
          </p:cNvPicPr>
          <p:nvPr/>
        </p:nvPicPr>
        <p:blipFill>
          <a:blip r:embed="rId5"/>
          <a:stretch>
            <a:fillRect/>
          </a:stretch>
        </p:blipFill>
        <p:spPr>
          <a:xfrm>
            <a:off x="9379915" y="3994099"/>
            <a:ext cx="332842" cy="332842"/>
          </a:xfrm>
          <a:prstGeom prst="rect">
            <a:avLst/>
          </a:prstGeom>
        </p:spPr>
      </p:pic>
      <p:sp>
        <p:nvSpPr>
          <p:cNvPr id="22" name="Text 15"/>
          <p:cNvSpPr txBox="1"/>
          <p:nvPr/>
        </p:nvSpPr>
        <p:spPr>
          <a:xfrm>
            <a:off x="9226296" y="4572000"/>
            <a:ext cx="2194560" cy="411480"/>
          </a:xfrm>
          <a:prstGeom prst="rect">
            <a:avLst/>
          </a:prstGeom>
          <a:noFill/>
          <a:ln/>
        </p:spPr>
        <p:txBody>
          <a:bodyPr wrap="square" rtlCol="0" anchor="t"/>
          <a:lstStyle/>
          <a:p>
            <a:pPr indent="0" marL="0">
              <a:buNone/>
            </a:pPr>
            <a:r>
              <a:rPr lang="en-US" sz="1700" b="1" dirty="0">
                <a:solidFill>
                  <a:schemeClr val="tx2"/>
                </a:solidFill>
              </a:rPr>
              <a:t>Khung giờ hợp lệ</a:t>
            </a:r>
            <a:endParaRPr lang="en-US" sz="1700" dirty="0"/>
          </a:p>
        </p:txBody>
      </p:sp>
      <p:sp>
        <p:nvSpPr>
          <p:cNvPr id="23" name="Text 16"/>
          <p:cNvSpPr txBox="1"/>
          <p:nvPr/>
        </p:nvSpPr>
        <p:spPr>
          <a:xfrm>
            <a:off x="9226296" y="4983480"/>
            <a:ext cx="2240280" cy="1051560"/>
          </a:xfrm>
          <a:prstGeom prst="rect">
            <a:avLst/>
          </a:prstGeom>
          <a:noFill/>
          <a:ln/>
        </p:spPr>
        <p:txBody>
          <a:bodyPr wrap="square" rtlCol="0" anchor="t"/>
          <a:lstStyle/>
          <a:p>
            <a:pPr indent="0" marL="0">
              <a:buNone/>
            </a:pPr>
            <a:r>
              <a:rPr lang="en-US" sz="1400" dirty="0">
                <a:solidFill>
                  <a:schemeClr val="accent5"/>
                </a:solidFill>
              </a:rPr>
              <a:t>17–21h ngày thường, 8–21h cuối tuần, không chồng lấn</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Luồng xử lý đặt lịch hẹn</a:t>
            </a:r>
            <a:endParaRPr lang="en-US" sz="3200" dirty="0"/>
          </a:p>
        </p:txBody>
      </p:sp>
      <p:pic>
        <p:nvPicPr>
          <p:cNvPr id="3" name="luu-do-dat-lich" descr="luu-do-dat-lich">    </p:cNvPr>
          <p:cNvPicPr>
            <a:picLocks noChangeAspect="1"/>
          </p:cNvPicPr>
          <p:nvPr/>
        </p:nvPicPr>
        <p:blipFill>
          <a:blip r:embed="rId1"/>
          <a:stretch>
            <a:fillRect/>
          </a:stretch>
        </p:blipFill>
        <p:spPr>
          <a:xfrm>
            <a:off x="581598" y="1234440"/>
            <a:ext cx="4597525" cy="5074920"/>
          </a:xfrm>
          <a:prstGeom prst="rect">
            <a:avLst/>
          </a:prstGeom>
        </p:spPr>
      </p:pic>
      <p:sp>
        <p:nvSpPr>
          <p:cNvPr id="4" name="step-0"/>
          <p:cNvSpPr/>
          <p:nvPr/>
        </p:nvSpPr>
        <p:spPr>
          <a:xfrm>
            <a:off x="5669280" y="1554480"/>
            <a:ext cx="640080" cy="640080"/>
          </a:xfrm>
          <a:prstGeom prst="ellipse">
            <a:avLst/>
          </a:prstGeom>
          <a:solidFill>
            <a:schemeClr val="accent1"/>
          </a:solidFill>
          <a:ln w="12700">
            <a:solidFill>
              <a:schemeClr val="accent1"/>
            </a:solidFill>
            <a:prstDash val="solid"/>
          </a:ln>
        </p:spPr>
      </p:sp>
      <p:sp>
        <p:nvSpPr>
          <p:cNvPr id="5" name="Text 2"/>
          <p:cNvSpPr txBox="1"/>
          <p:nvPr/>
        </p:nvSpPr>
        <p:spPr>
          <a:xfrm>
            <a:off x="5669280"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6492240" y="1463040"/>
            <a:ext cx="5120640" cy="457200"/>
          </a:xfrm>
          <a:prstGeom prst="rect">
            <a:avLst/>
          </a:prstGeom>
          <a:noFill/>
          <a:ln/>
        </p:spPr>
        <p:txBody>
          <a:bodyPr wrap="square" rtlCol="0" anchor="t"/>
          <a:lstStyle/>
          <a:p>
            <a:pPr indent="0" marL="0">
              <a:buNone/>
            </a:pPr>
            <a:r>
              <a:rPr lang="en-US" sz="1900" b="1" dirty="0">
                <a:solidFill>
                  <a:schemeClr val="tx2"/>
                </a:solidFill>
              </a:rPr>
              <a:t>Chọn liên hoàn</a:t>
            </a:r>
            <a:endParaRPr lang="en-US" sz="1900" dirty="0"/>
          </a:p>
        </p:txBody>
      </p:sp>
      <p:sp>
        <p:nvSpPr>
          <p:cNvPr id="7" name="Text 4"/>
          <p:cNvSpPr txBox="1"/>
          <p:nvPr/>
        </p:nvSpPr>
        <p:spPr>
          <a:xfrm>
            <a:off x="6492240" y="1920240"/>
            <a:ext cx="5120640" cy="914400"/>
          </a:xfrm>
          <a:prstGeom prst="rect">
            <a:avLst/>
          </a:prstGeom>
          <a:noFill/>
          <a:ln/>
        </p:spPr>
        <p:txBody>
          <a:bodyPr wrap="square" rtlCol="0" anchor="t"/>
          <a:lstStyle/>
          <a:p>
            <a:pPr indent="0" marL="0">
              <a:buNone/>
            </a:pPr>
            <a:r>
              <a:rPr lang="en-US" sz="1600" dirty="0">
                <a:solidFill>
                  <a:schemeClr val="accent5"/>
                </a:solidFill>
              </a:rPr>
              <a:t>Chuyên khoa → bác sĩ đang làm việc → ngày còn trống → khung giờ trống</a:t>
            </a:r>
            <a:endParaRPr lang="en-US" sz="1600" dirty="0"/>
          </a:p>
        </p:txBody>
      </p:sp>
      <p:sp>
        <p:nvSpPr>
          <p:cNvPr id="8" name="step-1"/>
          <p:cNvSpPr/>
          <p:nvPr/>
        </p:nvSpPr>
        <p:spPr>
          <a:xfrm>
            <a:off x="5669280" y="3154680"/>
            <a:ext cx="640080" cy="640080"/>
          </a:xfrm>
          <a:prstGeom prst="ellipse">
            <a:avLst/>
          </a:prstGeom>
          <a:solidFill>
            <a:schemeClr val="accent1"/>
          </a:solidFill>
          <a:ln w="12700">
            <a:solidFill>
              <a:schemeClr val="accent1"/>
            </a:solidFill>
            <a:prstDash val="solid"/>
          </a:ln>
        </p:spPr>
      </p:sp>
      <p:sp>
        <p:nvSpPr>
          <p:cNvPr id="9" name="Text 6"/>
          <p:cNvSpPr txBox="1"/>
          <p:nvPr/>
        </p:nvSpPr>
        <p:spPr>
          <a:xfrm>
            <a:off x="5669280" y="3154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6492240" y="3063240"/>
            <a:ext cx="5120640" cy="457200"/>
          </a:xfrm>
          <a:prstGeom prst="rect">
            <a:avLst/>
          </a:prstGeom>
          <a:noFill/>
          <a:ln/>
        </p:spPr>
        <p:txBody>
          <a:bodyPr wrap="square" rtlCol="0" anchor="t"/>
          <a:lstStyle/>
          <a:p>
            <a:pPr indent="0" marL="0">
              <a:buNone/>
            </a:pPr>
            <a:r>
              <a:rPr lang="en-US" sz="1900" b="1" dirty="0">
                <a:solidFill>
                  <a:schemeClr val="tx2"/>
                </a:solidFill>
              </a:rPr>
              <a:t>Gọi thủ tục sp_DatLich</a:t>
            </a:r>
            <a:endParaRPr lang="en-US" sz="1900" dirty="0"/>
          </a:p>
        </p:txBody>
      </p:sp>
      <p:sp>
        <p:nvSpPr>
          <p:cNvPr id="11" name="Text 8"/>
          <p:cNvSpPr txBox="1"/>
          <p:nvPr/>
        </p:nvSpPr>
        <p:spPr>
          <a:xfrm>
            <a:off x="6492240" y="3520440"/>
            <a:ext cx="5120640" cy="914400"/>
          </a:xfrm>
          <a:prstGeom prst="rect">
            <a:avLst/>
          </a:prstGeom>
          <a:noFill/>
          <a:ln/>
        </p:spPr>
        <p:txBody>
          <a:bodyPr wrap="square" rtlCol="0" anchor="t"/>
          <a:lstStyle/>
          <a:p>
            <a:pPr indent="0" marL="0">
              <a:buNone/>
            </a:pPr>
            <a:r>
              <a:rPr lang="en-US" sz="1600" dirty="0">
                <a:solidFill>
                  <a:schemeClr val="accent5"/>
                </a:solidFill>
              </a:rPr>
              <a:t>Kiểm tra lại: khung giờ tồn tại, chưa qua, chưa có người đặt</a:t>
            </a:r>
            <a:endParaRPr lang="en-US" sz="1600" dirty="0"/>
          </a:p>
        </p:txBody>
      </p:sp>
      <p:sp>
        <p:nvSpPr>
          <p:cNvPr id="12" name="step-2"/>
          <p:cNvSpPr/>
          <p:nvPr/>
        </p:nvSpPr>
        <p:spPr>
          <a:xfrm>
            <a:off x="5669280" y="4754880"/>
            <a:ext cx="640080" cy="640080"/>
          </a:xfrm>
          <a:prstGeom prst="ellipse">
            <a:avLst/>
          </a:prstGeom>
          <a:solidFill>
            <a:schemeClr val="accent1"/>
          </a:solidFill>
          <a:ln w="12700">
            <a:solidFill>
              <a:schemeClr val="accent1"/>
            </a:solidFill>
            <a:prstDash val="solid"/>
          </a:ln>
        </p:spPr>
      </p:sp>
      <p:sp>
        <p:nvSpPr>
          <p:cNvPr id="13" name="Text 10"/>
          <p:cNvSpPr txBox="1"/>
          <p:nvPr/>
        </p:nvSpPr>
        <p:spPr>
          <a:xfrm>
            <a:off x="5669280" y="47548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6492240" y="4663440"/>
            <a:ext cx="5120640" cy="457200"/>
          </a:xfrm>
          <a:prstGeom prst="rect">
            <a:avLst/>
          </a:prstGeom>
          <a:noFill/>
          <a:ln/>
        </p:spPr>
        <p:txBody>
          <a:bodyPr wrap="square" rtlCol="0" anchor="t"/>
          <a:lstStyle/>
          <a:p>
            <a:pPr indent="0" marL="0">
              <a:buNone/>
            </a:pPr>
            <a:r>
              <a:rPr lang="en-US" sz="1900" b="1" dirty="0">
                <a:solidFill>
                  <a:schemeClr val="tx2"/>
                </a:solidFill>
              </a:rPr>
              <a:t>Kết quả</a:t>
            </a:r>
            <a:endParaRPr lang="en-US" sz="1900" dirty="0"/>
          </a:p>
        </p:txBody>
      </p:sp>
      <p:sp>
        <p:nvSpPr>
          <p:cNvPr id="15" name="Text 12"/>
          <p:cNvSpPr txBox="1"/>
          <p:nvPr/>
        </p:nvSpPr>
        <p:spPr>
          <a:xfrm>
            <a:off x="6492240" y="5120640"/>
            <a:ext cx="5120640" cy="914400"/>
          </a:xfrm>
          <a:prstGeom prst="rect">
            <a:avLst/>
          </a:prstGeom>
          <a:noFill/>
          <a:ln/>
        </p:spPr>
        <p:txBody>
          <a:bodyPr wrap="square" rtlCol="0" anchor="t"/>
          <a:lstStyle/>
          <a:p>
            <a:pPr indent="0" marL="0">
              <a:buNone/>
            </a:pPr>
            <a:r>
              <a:rPr lang="en-US" sz="1600" dirty="0">
                <a:solidFill>
                  <a:schemeClr val="accent5"/>
                </a:solidFill>
              </a:rPr>
              <a:t>Thành công: hiện mã lịch, trạng thái Chờ xác nhận. Lỗi: báo bằng tiếng Việt, nạp lại khung giờ</a:t>
            </a:r>
            <a:endParaRPr lang="en-US" sz="16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Kiến trúc 3 tầng</a:t>
            </a:r>
            <a:endParaRPr lang="en-US" sz="3200" dirty="0"/>
          </a:p>
        </p:txBody>
      </p:sp>
      <p:pic>
        <p:nvPicPr>
          <p:cNvPr id="3" name="kien-truc" descr="kien-truc">    </p:cNvPr>
          <p:cNvPicPr>
            <a:picLocks noChangeAspect="1"/>
          </p:cNvPicPr>
          <p:nvPr/>
        </p:nvPicPr>
        <p:blipFill>
          <a:blip r:embed="rId1"/>
          <a:stretch>
            <a:fillRect/>
          </a:stretch>
        </p:blipFill>
        <p:spPr>
          <a:xfrm>
            <a:off x="548640" y="1242060"/>
            <a:ext cx="6309360" cy="4922520"/>
          </a:xfrm>
          <a:prstGeom prst="rect">
            <a:avLst/>
          </a:prstGeom>
        </p:spPr>
      </p:pic>
      <p:sp>
        <p:nvSpPr>
          <p:cNvPr id="4" name="arch-0"/>
          <p:cNvSpPr/>
          <p:nvPr/>
        </p:nvSpPr>
        <p:spPr>
          <a:xfrm>
            <a:off x="7178040" y="1371600"/>
            <a:ext cx="4434840" cy="1417320"/>
          </a:xfrm>
          <a:prstGeom prst="roundRect">
            <a:avLst>
              <a:gd name="adj" fmla="val 7742"/>
            </a:avLst>
          </a:prstGeom>
          <a:solidFill>
            <a:schemeClr val="bg2"/>
          </a:solidFill>
          <a:ln w="12700">
            <a:solidFill>
              <a:schemeClr val="bg2"/>
            </a:solidFill>
            <a:prstDash val="solid"/>
          </a:ln>
        </p:spPr>
      </p:sp>
      <p:sp>
        <p:nvSpPr>
          <p:cNvPr id="5" name="icon-bg-lock"/>
          <p:cNvSpPr/>
          <p:nvPr/>
        </p:nvSpPr>
        <p:spPr>
          <a:xfrm>
            <a:off x="7360920" y="1600200"/>
            <a:ext cx="594360" cy="594360"/>
          </a:xfrm>
          <a:prstGeom prst="ellipse">
            <a:avLst/>
          </a:prstGeom>
          <a:solidFill>
            <a:schemeClr val="accent1"/>
          </a:solidFill>
          <a:ln w="12700">
            <a:solidFill>
              <a:schemeClr val="accent1"/>
            </a:solidFill>
            <a:prstDash val="solid"/>
          </a:ln>
        </p:spPr>
      </p:sp>
      <p:pic>
        <p:nvPicPr>
          <p:cNvPr id="6" name="icon-lock" descr="preencoded.png">    </p:cNvPr>
          <p:cNvPicPr>
            <a:picLocks noChangeAspect="1"/>
          </p:cNvPicPr>
          <p:nvPr/>
        </p:nvPicPr>
        <p:blipFill>
          <a:blip r:embed="rId2"/>
          <a:stretch>
            <a:fillRect/>
          </a:stretch>
        </p:blipFill>
        <p:spPr>
          <a:xfrm>
            <a:off x="7503566" y="1742846"/>
            <a:ext cx="309067" cy="309067"/>
          </a:xfrm>
          <a:prstGeom prst="rect">
            <a:avLst/>
          </a:prstGeom>
        </p:spPr>
      </p:pic>
      <p:sp>
        <p:nvSpPr>
          <p:cNvPr id="7" name="Text 3"/>
          <p:cNvSpPr txBox="1"/>
          <p:nvPr/>
        </p:nvSpPr>
        <p:spPr>
          <a:xfrm>
            <a:off x="8092440" y="1508760"/>
            <a:ext cx="3383280" cy="411480"/>
          </a:xfrm>
          <a:prstGeom prst="rect">
            <a:avLst/>
          </a:prstGeom>
          <a:noFill/>
          <a:ln/>
        </p:spPr>
        <p:txBody>
          <a:bodyPr wrap="square" rtlCol="0" anchor="t"/>
          <a:lstStyle/>
          <a:p>
            <a:pPr indent="0" marL="0">
              <a:buNone/>
            </a:pPr>
            <a:r>
              <a:rPr lang="en-US" sz="1800" b="1" dirty="0">
                <a:solidFill>
                  <a:schemeClr val="tx2"/>
                </a:solidFill>
              </a:rPr>
              <a:t>Bảo mật</a:t>
            </a:r>
            <a:endParaRPr lang="en-US" sz="1800" dirty="0"/>
          </a:p>
        </p:txBody>
      </p:sp>
      <p:sp>
        <p:nvSpPr>
          <p:cNvPr id="8" name="Text 4"/>
          <p:cNvSpPr txBox="1"/>
          <p:nvPr/>
        </p:nvSpPr>
        <p:spPr>
          <a:xfrm>
            <a:off x="8092440" y="1874520"/>
            <a:ext cx="3429000" cy="868680"/>
          </a:xfrm>
          <a:prstGeom prst="rect">
            <a:avLst/>
          </a:prstGeom>
          <a:noFill/>
          <a:ln/>
        </p:spPr>
        <p:txBody>
          <a:bodyPr wrap="square" rtlCol="0" anchor="t"/>
          <a:lstStyle/>
          <a:p>
            <a:pPr indent="0" marL="0">
              <a:buNone/>
            </a:pPr>
            <a:r>
              <a:rPr lang="en-US" sz="1400" dirty="0">
                <a:solidFill>
                  <a:schemeClr val="accent5"/>
                </a:solidFill>
              </a:rPr>
              <a:t>Mật khẩu băm SHA-256; mọi truy vấn dùng SqlParameter chống SQL Injection; HtmlEncode chống XSS</a:t>
            </a:r>
            <a:endParaRPr lang="en-US" sz="1400" dirty="0"/>
          </a:p>
        </p:txBody>
      </p:sp>
      <p:sp>
        <p:nvSpPr>
          <p:cNvPr id="9" name="arch-1"/>
          <p:cNvSpPr/>
          <p:nvPr/>
        </p:nvSpPr>
        <p:spPr>
          <a:xfrm>
            <a:off x="7178040" y="2971800"/>
            <a:ext cx="4434840" cy="1417320"/>
          </a:xfrm>
          <a:prstGeom prst="roundRect">
            <a:avLst>
              <a:gd name="adj" fmla="val 7742"/>
            </a:avLst>
          </a:prstGeom>
          <a:solidFill>
            <a:schemeClr val="bg2"/>
          </a:solidFill>
          <a:ln w="12700">
            <a:solidFill>
              <a:schemeClr val="bg2"/>
            </a:solidFill>
            <a:prstDash val="solid"/>
          </a:ln>
        </p:spPr>
      </p:sp>
      <p:sp>
        <p:nvSpPr>
          <p:cNvPr id="10" name="icon-bg-user"/>
          <p:cNvSpPr/>
          <p:nvPr/>
        </p:nvSpPr>
        <p:spPr>
          <a:xfrm>
            <a:off x="7360920" y="3200400"/>
            <a:ext cx="594360" cy="594360"/>
          </a:xfrm>
          <a:prstGeom prst="ellipse">
            <a:avLst/>
          </a:prstGeom>
          <a:solidFill>
            <a:schemeClr val="accent1"/>
          </a:solidFill>
          <a:ln w="12700">
            <a:solidFill>
              <a:schemeClr val="accent1"/>
            </a:solidFill>
            <a:prstDash val="solid"/>
          </a:ln>
        </p:spPr>
      </p:sp>
      <p:pic>
        <p:nvPicPr>
          <p:cNvPr id="11" name="icon-user" descr="preencoded.png">    </p:cNvPr>
          <p:cNvPicPr>
            <a:picLocks noChangeAspect="1"/>
          </p:cNvPicPr>
          <p:nvPr/>
        </p:nvPicPr>
        <p:blipFill>
          <a:blip r:embed="rId3"/>
          <a:stretch>
            <a:fillRect/>
          </a:stretch>
        </p:blipFill>
        <p:spPr>
          <a:xfrm>
            <a:off x="7503566" y="3343046"/>
            <a:ext cx="309067" cy="309067"/>
          </a:xfrm>
          <a:prstGeom prst="rect">
            <a:avLst/>
          </a:prstGeom>
        </p:spPr>
      </p:pic>
      <p:sp>
        <p:nvSpPr>
          <p:cNvPr id="12" name="Text 7"/>
          <p:cNvSpPr txBox="1"/>
          <p:nvPr/>
        </p:nvSpPr>
        <p:spPr>
          <a:xfrm>
            <a:off x="8092440" y="3108960"/>
            <a:ext cx="3383280" cy="411480"/>
          </a:xfrm>
          <a:prstGeom prst="rect">
            <a:avLst/>
          </a:prstGeom>
          <a:noFill/>
          <a:ln/>
        </p:spPr>
        <p:txBody>
          <a:bodyPr wrap="square" rtlCol="0" anchor="t"/>
          <a:lstStyle/>
          <a:p>
            <a:pPr indent="0" marL="0">
              <a:buNone/>
            </a:pPr>
            <a:r>
              <a:rPr lang="en-US" sz="1800" b="1" dirty="0">
                <a:solidFill>
                  <a:schemeClr val="tx2"/>
                </a:solidFill>
              </a:rPr>
              <a:t>Phân quyền</a:t>
            </a:r>
            <a:endParaRPr lang="en-US" sz="1800" dirty="0"/>
          </a:p>
        </p:txBody>
      </p:sp>
      <p:sp>
        <p:nvSpPr>
          <p:cNvPr id="13" name="Text 8"/>
          <p:cNvSpPr txBox="1"/>
          <p:nvPr/>
        </p:nvSpPr>
        <p:spPr>
          <a:xfrm>
            <a:off x="8092440" y="3474720"/>
            <a:ext cx="3429000" cy="868680"/>
          </a:xfrm>
          <a:prstGeom prst="rect">
            <a:avLst/>
          </a:prstGeom>
          <a:noFill/>
          <a:ln/>
        </p:spPr>
        <p:txBody>
          <a:bodyPr wrap="square" rtlCol="0" anchor="t"/>
          <a:lstStyle/>
          <a:p>
            <a:pPr indent="0" marL="0">
              <a:buNone/>
            </a:pPr>
            <a:r>
              <a:rPr lang="en-US" sz="1400" dirty="0">
                <a:solidFill>
                  <a:schemeClr val="accent5"/>
                </a:solidFill>
              </a:rPr>
              <a:t>Session lưu vai trò; Master Page ẩn/hiện menu; mỗi trang kiểm tra quyền trong Page_Load</a:t>
            </a:r>
            <a:endParaRPr lang="en-US" sz="1400" dirty="0"/>
          </a:p>
        </p:txBody>
      </p:sp>
      <p:sp>
        <p:nvSpPr>
          <p:cNvPr id="14" name="arch-2"/>
          <p:cNvSpPr/>
          <p:nvPr/>
        </p:nvSpPr>
        <p:spPr>
          <a:xfrm>
            <a:off x="7178040" y="4572000"/>
            <a:ext cx="4434840" cy="1417320"/>
          </a:xfrm>
          <a:prstGeom prst="roundRect">
            <a:avLst>
              <a:gd name="adj" fmla="val 7742"/>
            </a:avLst>
          </a:prstGeom>
          <a:solidFill>
            <a:schemeClr val="bg2"/>
          </a:solidFill>
          <a:ln w="12700">
            <a:solidFill>
              <a:schemeClr val="bg2"/>
            </a:solidFill>
            <a:prstDash val="solid"/>
          </a:ln>
        </p:spPr>
      </p:sp>
      <p:sp>
        <p:nvSpPr>
          <p:cNvPr id="15" name="icon-bg-cog"/>
          <p:cNvSpPr/>
          <p:nvPr/>
        </p:nvSpPr>
        <p:spPr>
          <a:xfrm>
            <a:off x="7360920" y="4800600"/>
            <a:ext cx="594360" cy="594360"/>
          </a:xfrm>
          <a:prstGeom prst="ellipse">
            <a:avLst/>
          </a:prstGeom>
          <a:solidFill>
            <a:schemeClr val="accent1"/>
          </a:solidFill>
          <a:ln w="12700">
            <a:solidFill>
              <a:schemeClr val="accent1"/>
            </a:solidFill>
            <a:prstDash val="solid"/>
          </a:ln>
        </p:spPr>
      </p:sp>
      <p:pic>
        <p:nvPicPr>
          <p:cNvPr id="16" name="icon-cog" descr="preencoded.png">    </p:cNvPr>
          <p:cNvPicPr>
            <a:picLocks noChangeAspect="1"/>
          </p:cNvPicPr>
          <p:nvPr/>
        </p:nvPicPr>
        <p:blipFill>
          <a:blip r:embed="rId4"/>
          <a:stretch>
            <a:fillRect/>
          </a:stretch>
        </p:blipFill>
        <p:spPr>
          <a:xfrm>
            <a:off x="7503566" y="4943246"/>
            <a:ext cx="309067" cy="309067"/>
          </a:xfrm>
          <a:prstGeom prst="rect">
            <a:avLst/>
          </a:prstGeom>
        </p:spPr>
      </p:pic>
      <p:sp>
        <p:nvSpPr>
          <p:cNvPr id="17" name="Text 11"/>
          <p:cNvSpPr txBox="1"/>
          <p:nvPr/>
        </p:nvSpPr>
        <p:spPr>
          <a:xfrm>
            <a:off x="8092440" y="4709160"/>
            <a:ext cx="3383280" cy="411480"/>
          </a:xfrm>
          <a:prstGeom prst="rect">
            <a:avLst/>
          </a:prstGeom>
          <a:noFill/>
          <a:ln/>
        </p:spPr>
        <p:txBody>
          <a:bodyPr wrap="square" rtlCol="0" anchor="t"/>
          <a:lstStyle/>
          <a:p>
            <a:pPr indent="0" marL="0">
              <a:buNone/>
            </a:pPr>
            <a:r>
              <a:rPr lang="en-US" sz="1800" b="1" dirty="0">
                <a:solidFill>
                  <a:schemeClr val="tx2"/>
                </a:solidFill>
              </a:rPr>
              <a:t>Truy cập dữ liệu</a:t>
            </a:r>
            <a:endParaRPr lang="en-US" sz="1800" dirty="0"/>
          </a:p>
        </p:txBody>
      </p:sp>
      <p:sp>
        <p:nvSpPr>
          <p:cNvPr id="18" name="Text 12"/>
          <p:cNvSpPr txBox="1"/>
          <p:nvPr/>
        </p:nvSpPr>
        <p:spPr>
          <a:xfrm>
            <a:off x="8092440" y="5074920"/>
            <a:ext cx="3429000" cy="868680"/>
          </a:xfrm>
          <a:prstGeom prst="rect">
            <a:avLst/>
          </a:prstGeom>
          <a:noFill/>
          <a:ln/>
        </p:spPr>
        <p:txBody>
          <a:bodyPr wrap="square" rtlCol="0" anchor="t"/>
          <a:lstStyle/>
          <a:p>
            <a:pPr indent="0" marL="0">
              <a:buNone/>
            </a:pPr>
            <a:r>
              <a:rPr lang="en-US" sz="1400" dirty="0">
                <a:solidFill>
                  <a:schemeClr val="accent5"/>
                </a:solidFill>
              </a:rPr>
              <a:t>DatabaseHelper tập trung: GetTable, Execute, Scalar; using tự đóng kết nối</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Demo: chức năng bệnh nhân</a:t>
            </a:r>
            <a:endParaRPr lang="en-US" sz="3200" dirty="0"/>
          </a:p>
        </p:txBody>
      </p:sp>
      <p:pic>
        <p:nvPicPr>
          <p:cNvPr id="3" name="anh-dat-lich" descr="anh-dat-lich">    </p:cNvPr>
          <p:cNvPicPr>
            <a:picLocks noChangeAspect="1"/>
          </p:cNvPicPr>
          <p:nvPr/>
        </p:nvPicPr>
        <p:blipFill>
          <a:blip r:embed="rId1"/>
          <a:stretch>
            <a:fillRect/>
          </a:stretch>
        </p:blipFill>
        <p:spPr>
          <a:xfrm>
            <a:off x="1187659" y="1325880"/>
            <a:ext cx="5671401" cy="3611880"/>
          </a:xfrm>
          <a:prstGeom prst="rect">
            <a:avLst/>
          </a:prstGeom>
        </p:spPr>
      </p:pic>
      <p:sp>
        <p:nvSpPr>
          <p:cNvPr id="4" name="Text 1"/>
          <p:cNvSpPr txBox="1"/>
          <p:nvPr/>
        </p:nvSpPr>
        <p:spPr>
          <a:xfrm>
            <a:off x="548640" y="5029200"/>
            <a:ext cx="6949440" cy="320040"/>
          </a:xfrm>
          <a:prstGeom prst="rect">
            <a:avLst/>
          </a:prstGeom>
          <a:noFill/>
          <a:ln/>
        </p:spPr>
        <p:txBody>
          <a:bodyPr wrap="square" lIns="0" tIns="0" rIns="0" bIns="0" rtlCol="0" anchor="t"/>
          <a:lstStyle/>
          <a:p>
            <a:pPr algn="ctr" indent="0" marL="0">
              <a:buNone/>
            </a:pPr>
            <a:r>
              <a:rPr lang="en-US" sz="1300" i="1" dirty="0">
                <a:solidFill>
                  <a:schemeClr val="accent5"/>
                </a:solidFill>
              </a:rPr>
              <a:t>Đặt lịch thành công – mã lịch hẹn, trạng thái Chờ xác nhận</a:t>
            </a:r>
            <a:endParaRPr lang="en-US" sz="1300" dirty="0"/>
          </a:p>
        </p:txBody>
      </p:sp>
      <p:pic>
        <p:nvPicPr>
          <p:cNvPr id="5" name="anh-dang-ky" descr="anh-dang-ky">    </p:cNvPr>
          <p:cNvPicPr>
            <a:picLocks noChangeAspect="1"/>
          </p:cNvPicPr>
          <p:nvPr/>
        </p:nvPicPr>
        <p:blipFill>
          <a:blip r:embed="rId2"/>
          <a:stretch>
            <a:fillRect/>
          </a:stretch>
        </p:blipFill>
        <p:spPr>
          <a:xfrm>
            <a:off x="7863840" y="1563249"/>
            <a:ext cx="3749040" cy="1354062"/>
          </a:xfrm>
          <a:prstGeom prst="rect">
            <a:avLst/>
          </a:prstGeom>
        </p:spPr>
      </p:pic>
      <p:sp>
        <p:nvSpPr>
          <p:cNvPr id="6" name="Text 2"/>
          <p:cNvSpPr txBox="1"/>
          <p:nvPr/>
        </p:nvSpPr>
        <p:spPr>
          <a:xfrm>
            <a:off x="7863840" y="3200400"/>
            <a:ext cx="3749040" cy="320040"/>
          </a:xfrm>
          <a:prstGeom prst="rect">
            <a:avLst/>
          </a:prstGeom>
          <a:noFill/>
          <a:ln/>
        </p:spPr>
        <p:txBody>
          <a:bodyPr wrap="square" lIns="0" tIns="0" rIns="0" bIns="0" rtlCol="0" anchor="t"/>
          <a:lstStyle/>
          <a:p>
            <a:pPr algn="ctr" indent="0" marL="0">
              <a:buNone/>
            </a:pPr>
            <a:r>
              <a:rPr lang="en-US" sz="1300" i="1" dirty="0">
                <a:solidFill>
                  <a:schemeClr val="accent5"/>
                </a:solidFill>
              </a:rPr>
              <a:t>Đăng ký tài khoản</a:t>
            </a:r>
            <a:endParaRPr lang="en-US" sz="1300" dirty="0"/>
          </a:p>
        </p:txBody>
      </p:sp>
      <p:pic>
        <p:nvPicPr>
          <p:cNvPr id="7" name="anh-lich-cua-toi" descr="anh-lich-cua-toi">    </p:cNvPr>
          <p:cNvPicPr>
            <a:picLocks noChangeAspect="1"/>
          </p:cNvPicPr>
          <p:nvPr/>
        </p:nvPicPr>
        <p:blipFill>
          <a:blip r:embed="rId3"/>
          <a:stretch>
            <a:fillRect/>
          </a:stretch>
        </p:blipFill>
        <p:spPr>
          <a:xfrm>
            <a:off x="8261604" y="3657600"/>
            <a:ext cx="2953512" cy="1325880"/>
          </a:xfrm>
          <a:prstGeom prst="rect">
            <a:avLst/>
          </a:prstGeom>
        </p:spPr>
      </p:pic>
      <p:sp>
        <p:nvSpPr>
          <p:cNvPr id="8" name="Text 3"/>
          <p:cNvSpPr txBox="1"/>
          <p:nvPr/>
        </p:nvSpPr>
        <p:spPr>
          <a:xfrm>
            <a:off x="7863840" y="5029200"/>
            <a:ext cx="3749040" cy="320040"/>
          </a:xfrm>
          <a:prstGeom prst="rect">
            <a:avLst/>
          </a:prstGeom>
          <a:noFill/>
          <a:ln/>
        </p:spPr>
        <p:txBody>
          <a:bodyPr wrap="square" lIns="0" tIns="0" rIns="0" bIns="0" rtlCol="0" anchor="t"/>
          <a:lstStyle/>
          <a:p>
            <a:pPr algn="ctr" indent="0" marL="0">
              <a:buNone/>
            </a:pPr>
            <a:r>
              <a:rPr lang="en-US" sz="1300" i="1" dirty="0">
                <a:solidFill>
                  <a:schemeClr val="accent5"/>
                </a:solidFill>
              </a:rPr>
              <a:t>Lịch của tôi – hủy lịch</a:t>
            </a:r>
            <a:endParaRPr lang="en-US" sz="1300" dirty="0"/>
          </a:p>
        </p:txBody>
      </p:sp>
      <p:sp>
        <p:nvSpPr>
          <p:cNvPr id="9" name="Text 4"/>
          <p:cNvSpPr txBox="1"/>
          <p:nvPr/>
        </p:nvSpPr>
        <p:spPr>
          <a:xfrm>
            <a:off x="548640" y="5669280"/>
            <a:ext cx="11064240" cy="411480"/>
          </a:xfrm>
          <a:prstGeom prst="rect">
            <a:avLst/>
          </a:prstGeom>
          <a:noFill/>
          <a:ln/>
        </p:spPr>
        <p:txBody>
          <a:bodyPr wrap="square" rtlCol="0" anchor="t"/>
          <a:lstStyle/>
          <a:p>
            <a:pPr indent="0" marL="0">
              <a:buNone/>
            </a:pPr>
            <a:r>
              <a:rPr lang="en-US" sz="1500" i="1" dirty="0">
                <a:solidFill>
                  <a:schemeClr val="accent5"/>
                </a:solidFill>
              </a:rPr>
              <a:t>Tài khoản thử: bn01 / 123456</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Demo: chức năng lễ tân và quản trị</a:t>
            </a:r>
            <a:endParaRPr lang="en-US" sz="3200" dirty="0"/>
          </a:p>
        </p:txBody>
      </p:sp>
      <p:pic>
        <p:nvPicPr>
          <p:cNvPr id="3" name="anh-tim-kiem" descr="anh-tim-kiem">    </p:cNvPr>
          <p:cNvPicPr>
            <a:picLocks noChangeAspect="1"/>
          </p:cNvPicPr>
          <p:nvPr/>
        </p:nvPicPr>
        <p:blipFill>
          <a:blip r:embed="rId1"/>
          <a:stretch>
            <a:fillRect/>
          </a:stretch>
        </p:blipFill>
        <p:spPr>
          <a:xfrm>
            <a:off x="1359064" y="1280160"/>
            <a:ext cx="3819832" cy="2194560"/>
          </a:xfrm>
          <a:prstGeom prst="rect">
            <a:avLst/>
          </a:prstGeom>
        </p:spPr>
      </p:pic>
      <p:sp>
        <p:nvSpPr>
          <p:cNvPr id="4" name="Text 1"/>
          <p:cNvSpPr txBox="1"/>
          <p:nvPr/>
        </p:nvSpPr>
        <p:spPr>
          <a:xfrm>
            <a:off x="548640" y="3520440"/>
            <a:ext cx="5440680" cy="274320"/>
          </a:xfrm>
          <a:prstGeom prst="rect">
            <a:avLst/>
          </a:prstGeom>
          <a:noFill/>
          <a:ln/>
        </p:spPr>
        <p:txBody>
          <a:bodyPr wrap="square" lIns="0" tIns="0" rIns="0" bIns="0" rtlCol="0" anchor="t"/>
          <a:lstStyle/>
          <a:p>
            <a:pPr algn="ctr" indent="0" marL="0">
              <a:buNone/>
            </a:pPr>
            <a:r>
              <a:rPr lang="en-US" sz="1300" i="1" dirty="0">
                <a:solidFill>
                  <a:schemeClr val="accent5"/>
                </a:solidFill>
              </a:rPr>
              <a:t>Quản lý lịch hẹn – tìm kiếm tương đối</a:t>
            </a:r>
            <a:endParaRPr lang="en-US" sz="1300" dirty="0"/>
          </a:p>
        </p:txBody>
      </p:sp>
      <p:pic>
        <p:nvPicPr>
          <p:cNvPr id="5" name="anh-khung-gio" descr="anh-khung-gio">    </p:cNvPr>
          <p:cNvPicPr>
            <a:picLocks noChangeAspect="1"/>
          </p:cNvPicPr>
          <p:nvPr/>
        </p:nvPicPr>
        <p:blipFill>
          <a:blip r:embed="rId2"/>
          <a:stretch>
            <a:fillRect/>
          </a:stretch>
        </p:blipFill>
        <p:spPr>
          <a:xfrm>
            <a:off x="7094933" y="1280160"/>
            <a:ext cx="3650078" cy="2194560"/>
          </a:xfrm>
          <a:prstGeom prst="rect">
            <a:avLst/>
          </a:prstGeom>
        </p:spPr>
      </p:pic>
      <p:sp>
        <p:nvSpPr>
          <p:cNvPr id="6" name="Text 2"/>
          <p:cNvSpPr txBox="1"/>
          <p:nvPr/>
        </p:nvSpPr>
        <p:spPr>
          <a:xfrm>
            <a:off x="6199632" y="3520440"/>
            <a:ext cx="5440680" cy="274320"/>
          </a:xfrm>
          <a:prstGeom prst="rect">
            <a:avLst/>
          </a:prstGeom>
          <a:noFill/>
          <a:ln/>
        </p:spPr>
        <p:txBody>
          <a:bodyPr wrap="square" lIns="0" tIns="0" rIns="0" bIns="0" rtlCol="0" anchor="t"/>
          <a:lstStyle/>
          <a:p>
            <a:pPr algn="ctr" indent="0" marL="0">
              <a:buNone/>
            </a:pPr>
            <a:r>
              <a:rPr lang="en-US" sz="1300" i="1" dirty="0">
                <a:solidFill>
                  <a:schemeClr val="accent5"/>
                </a:solidFill>
              </a:rPr>
              <a:t>Quản lý khung giờ khám</a:t>
            </a:r>
            <a:endParaRPr lang="en-US" sz="1300" dirty="0"/>
          </a:p>
        </p:txBody>
      </p:sp>
      <p:pic>
        <p:nvPicPr>
          <p:cNvPr id="7" name="anh-bac-si" descr="anh-bac-si">    </p:cNvPr>
          <p:cNvPicPr>
            <a:picLocks noChangeAspect="1"/>
          </p:cNvPicPr>
          <p:nvPr/>
        </p:nvPicPr>
        <p:blipFill>
          <a:blip r:embed="rId3"/>
          <a:stretch>
            <a:fillRect/>
          </a:stretch>
        </p:blipFill>
        <p:spPr>
          <a:xfrm>
            <a:off x="1705089" y="3886200"/>
            <a:ext cx="3127783" cy="2148840"/>
          </a:xfrm>
          <a:prstGeom prst="rect">
            <a:avLst/>
          </a:prstGeom>
        </p:spPr>
      </p:pic>
      <p:sp>
        <p:nvSpPr>
          <p:cNvPr id="8" name="Text 3"/>
          <p:cNvSpPr txBox="1"/>
          <p:nvPr/>
        </p:nvSpPr>
        <p:spPr>
          <a:xfrm>
            <a:off x="548640" y="6053328"/>
            <a:ext cx="5440680" cy="274320"/>
          </a:xfrm>
          <a:prstGeom prst="rect">
            <a:avLst/>
          </a:prstGeom>
          <a:noFill/>
          <a:ln/>
        </p:spPr>
        <p:txBody>
          <a:bodyPr wrap="square" lIns="0" tIns="0" rIns="0" bIns="0" rtlCol="0" anchor="t"/>
          <a:lstStyle/>
          <a:p>
            <a:pPr algn="ctr" indent="0" marL="0">
              <a:buNone/>
            </a:pPr>
            <a:r>
              <a:rPr lang="en-US" sz="1300" i="1" dirty="0">
                <a:solidFill>
                  <a:schemeClr val="accent5"/>
                </a:solidFill>
              </a:rPr>
              <a:t>Quản lý bác sĩ</a:t>
            </a:r>
            <a:endParaRPr lang="en-US" sz="1300" dirty="0"/>
          </a:p>
        </p:txBody>
      </p:sp>
      <p:pic>
        <p:nvPicPr>
          <p:cNvPr id="9" name="anh-thong-ke" descr="anh-thong-ke">    </p:cNvPr>
          <p:cNvPicPr>
            <a:picLocks noChangeAspect="1"/>
          </p:cNvPicPr>
          <p:nvPr/>
        </p:nvPicPr>
        <p:blipFill>
          <a:blip r:embed="rId4"/>
          <a:stretch>
            <a:fillRect/>
          </a:stretch>
        </p:blipFill>
        <p:spPr>
          <a:xfrm>
            <a:off x="6582283" y="3886200"/>
            <a:ext cx="4675377" cy="2148840"/>
          </a:xfrm>
          <a:prstGeom prst="rect">
            <a:avLst/>
          </a:prstGeom>
        </p:spPr>
      </p:pic>
      <p:sp>
        <p:nvSpPr>
          <p:cNvPr id="10" name="Text 4"/>
          <p:cNvSpPr txBox="1"/>
          <p:nvPr/>
        </p:nvSpPr>
        <p:spPr>
          <a:xfrm>
            <a:off x="6199632" y="6053328"/>
            <a:ext cx="5440680" cy="274320"/>
          </a:xfrm>
          <a:prstGeom prst="rect">
            <a:avLst/>
          </a:prstGeom>
          <a:noFill/>
          <a:ln/>
        </p:spPr>
        <p:txBody>
          <a:bodyPr wrap="square" lIns="0" tIns="0" rIns="0" bIns="0" rtlCol="0" anchor="t"/>
          <a:lstStyle/>
          <a:p>
            <a:pPr algn="ctr" indent="0" marL="0">
              <a:buNone/>
            </a:pPr>
            <a:r>
              <a:rPr lang="en-US" sz="1300" i="1" dirty="0">
                <a:solidFill>
                  <a:schemeClr val="accent5"/>
                </a:solidFill>
              </a:rPr>
              <a:t>Thống kê, báo cáo</a:t>
            </a:r>
            <a:endParaRPr lang="en-US" sz="13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Kiểm thử: 19/19 kịch bản đạt</a:t>
            </a:r>
            <a:endParaRPr lang="en-US" sz="3200" dirty="0"/>
          </a:p>
        </p:txBody>
      </p:sp>
      <p:sp>
        <p:nvSpPr>
          <p:cNvPr id="3" name="test-stat"/>
          <p:cNvSpPr/>
          <p:nvPr/>
        </p:nvSpPr>
        <p:spPr>
          <a:xfrm>
            <a:off x="548640" y="1371600"/>
            <a:ext cx="3108960" cy="4754880"/>
          </a:xfrm>
          <a:prstGeom prst="roundRect">
            <a:avLst>
              <a:gd name="adj" fmla="val 3529"/>
            </a:avLst>
          </a:prstGeom>
          <a:solidFill>
            <a:schemeClr val="accent1"/>
          </a:solidFill>
          <a:ln w="12700">
            <a:solidFill>
              <a:schemeClr val="accent1"/>
            </a:solidFill>
            <a:prstDash val="solid"/>
          </a:ln>
        </p:spPr>
      </p:sp>
      <p:sp>
        <p:nvSpPr>
          <p:cNvPr id="4" name="Text 2"/>
          <p:cNvSpPr txBox="1"/>
          <p:nvPr/>
        </p:nvSpPr>
        <p:spPr>
          <a:xfrm>
            <a:off x="548640" y="2103120"/>
            <a:ext cx="3108960" cy="1188720"/>
          </a:xfrm>
          <a:prstGeom prst="rect">
            <a:avLst/>
          </a:prstGeom>
          <a:noFill/>
          <a:ln/>
        </p:spPr>
        <p:txBody>
          <a:bodyPr wrap="square" rtlCol="0" anchor="t"/>
          <a:lstStyle/>
          <a:p>
            <a:pPr algn="ctr" indent="0" marL="0">
              <a:buNone/>
            </a:pPr>
            <a:r>
              <a:rPr lang="en-US" sz="6400" b="1" dirty="0">
                <a:solidFill>
                  <a:schemeClr val="bg1"/>
                </a:solidFill>
                <a:latin typeface="Cambria" pitchFamily="34" charset="0"/>
                <a:ea typeface="Cambria" pitchFamily="34" charset="-122"/>
                <a:cs typeface="Cambria" pitchFamily="34" charset="-120"/>
              </a:rPr>
              <a:t>19/19</a:t>
            </a:r>
            <a:endParaRPr lang="en-US" sz="6400" dirty="0"/>
          </a:p>
        </p:txBody>
      </p:sp>
      <p:sp>
        <p:nvSpPr>
          <p:cNvPr id="5" name="Text 3"/>
          <p:cNvSpPr txBox="1"/>
          <p:nvPr/>
        </p:nvSpPr>
        <p:spPr>
          <a:xfrm>
            <a:off x="822960" y="3383280"/>
            <a:ext cx="2560320" cy="822960"/>
          </a:xfrm>
          <a:prstGeom prst="rect">
            <a:avLst/>
          </a:prstGeom>
          <a:noFill/>
          <a:ln/>
        </p:spPr>
        <p:txBody>
          <a:bodyPr wrap="square" rtlCol="0" anchor="t"/>
          <a:lstStyle/>
          <a:p>
            <a:pPr algn="ctr" indent="0" marL="0">
              <a:buNone/>
            </a:pPr>
            <a:r>
              <a:rPr lang="en-US" sz="1800" dirty="0">
                <a:solidFill>
                  <a:schemeClr val="bg1"/>
                </a:solidFill>
              </a:rPr>
              <a:t>kịch bản kiểm thử đạt yêu cầu</a:t>
            </a:r>
            <a:endParaRPr lang="en-US" sz="1800" dirty="0"/>
          </a:p>
        </p:txBody>
      </p:sp>
      <p:sp>
        <p:nvSpPr>
          <p:cNvPr id="6" name="Text 4"/>
          <p:cNvSpPr txBox="1"/>
          <p:nvPr/>
        </p:nvSpPr>
        <p:spPr>
          <a:xfrm>
            <a:off x="822960" y="4572000"/>
            <a:ext cx="2560320" cy="822960"/>
          </a:xfrm>
          <a:prstGeom prst="rect">
            <a:avLst/>
          </a:prstGeom>
          <a:noFill/>
          <a:ln/>
        </p:spPr>
        <p:txBody>
          <a:bodyPr wrap="square" rtlCol="0" anchor="t"/>
          <a:lstStyle/>
          <a:p>
            <a:pPr algn="ctr" indent="0" marL="0">
              <a:buNone/>
            </a:pPr>
            <a:r>
              <a:rPr lang="en-US" sz="1600" b="1" dirty="0">
                <a:solidFill>
                  <a:schemeClr val="bg2"/>
                </a:solidFill>
              </a:rPr>
              <a:t>11/11 chức năng hoạt động</a:t>
            </a:r>
            <a:endParaRPr lang="en-US" sz="1600" dirty="0"/>
          </a:p>
        </p:txBody>
      </p:sp>
      <p:graphicFrame>
        <p:nvGraphicFramePr>
          <p:cNvPr id="14" name="bang-kiem-thu"/>
          <p:cNvGraphicFramePr>
            <a:graphicFrameLocks noGrp="1"/>
          </p:cNvGraphicFramePr>
          <p:nvPr>
            <p:extLst>
              <p:ext uri="{D42A27DB-BD31-4B8C-83A1-F6EECF244321}">
                <p14:modId xmlns:p14="http://schemas.microsoft.com/office/powerpoint/2010/main" val="1579011935"/>
              </p:ext>
            </p:extLst>
          </p:nvPr>
        </p:nvGraphicFramePr>
        <p:xfrm>
          <a:off x="3931920" y="1371600"/>
          <a:ext cx="7708392" cy="914400"/>
        </p:xfrm>
        <a:graphic>
          <a:graphicData uri="http://schemas.openxmlformats.org/drawingml/2006/table">
            <a:tbl>
              <a:tblPr/>
              <a:tblGrid>
                <a:gridCol w="3840480"/>
                <a:gridCol w="3867912"/>
              </a:tblGrid>
              <a:tr h="566928">
                <a:tc>
                  <a:txBody>
                    <a:bodyPr/>
                    <a:lstStyle/>
                    <a:p>
                      <a:pPr indent="0" marL="0">
                        <a:buNone/>
                      </a:pPr>
                      <a:r>
                        <a:rPr lang="en-US" sz="1500" b="1" dirty="0">
                          <a:solidFill>
                            <a:schemeClr val="bg1"/>
                          </a:solidFill>
                        </a:rPr>
                        <a:t>Kịch bản</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Kết quả mong đợi</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rPr>
                        <a:t>Hai người cùng đặt một khung giờ</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Người sau bị báo “đã có người đặt”</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Hủy lịch khi còn dưới 2 giờ</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Báo chỉ hủy trước 2 giờ</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Lễ tân mở trang quản lý bác sĩ</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Chuyển về trang Đăng nhập</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Xóa chuyên khoa đang có bác sĩ</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Báo không thể xóa</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Thêm khung giờ 15:00 ngày thường</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Báo chỉ nhận 17:00–21:00</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Tìm “An”, “0901”</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Trả kết quả tìm kiếm tương đối</a:t>
                      </a:r>
                      <a:endParaRPr lang="en-US" sz="1500" dirty="0"/>
                    </a:p>
                  </a:txBody>
                  <a:tcPr marL="91440" marR="91440" marT="45720" marB="45720" anchor="ctr">
                    <a:lnL w="6350" cap="flat" cmpd="sng" algn="ctr">
                      <a:solidFill>
                        <a:srgbClr val="C9DDD9"/>
                      </a:solidFill>
                      <a:prstDash val="solid"/>
                      <a:round/>
                      <a:headEnd type="none" w="med" len="med"/>
                      <a:tailEnd type="none" w="med" len="med"/>
                    </a:lnL>
                    <a:lnR w="6350" cap="flat" cmpd="sng" algn="ctr">
                      <a:solidFill>
                        <a:srgbClr val="C9DDD9"/>
                      </a:solidFill>
                      <a:prstDash val="solid"/>
                      <a:round/>
                      <a:headEnd type="none" w="med" len="med"/>
                      <a:tailEnd type="none" w="med" len="med"/>
                    </a:lnR>
                    <a:lnT w="6350" cap="flat" cmpd="sng" algn="ctr">
                      <a:solidFill>
                        <a:srgbClr val="C9DDD9"/>
                      </a:solidFill>
                      <a:prstDash val="solid"/>
                      <a:round/>
                      <a:headEnd type="none" w="med" len="med"/>
                      <a:tailEnd type="none" w="med" len="med"/>
                    </a:lnT>
                    <a:lnB w="6350" cap="flat" cmpd="sng" algn="ctr">
                      <a:solidFill>
                        <a:srgbClr val="C9DDD9"/>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2"/>
                </a:solidFill>
              </a:rPr>
              <a:t>Hạn chế và hướng phát triển</a:t>
            </a:r>
            <a:endParaRPr lang="en-US" sz="3200" dirty="0"/>
          </a:p>
        </p:txBody>
      </p:sp>
      <p:sp>
        <p:nvSpPr>
          <p:cNvPr id="3" name="col-han-che"/>
          <p:cNvSpPr/>
          <p:nvPr/>
        </p:nvSpPr>
        <p:spPr>
          <a:xfrm>
            <a:off x="548640" y="1371600"/>
            <a:ext cx="5440680" cy="4206240"/>
          </a:xfrm>
          <a:prstGeom prst="roundRect">
            <a:avLst>
              <a:gd name="adj" fmla="val 2609"/>
            </a:avLst>
          </a:prstGeom>
          <a:solidFill>
            <a:schemeClr val="bg2"/>
          </a:solidFill>
          <a:ln w="12700">
            <a:solidFill>
              <a:schemeClr val="bg2"/>
            </a:solidFill>
            <a:prstDash val="solid"/>
          </a:ln>
        </p:spPr>
      </p:sp>
      <p:sp>
        <p:nvSpPr>
          <p:cNvPr id="4" name="Text 2"/>
          <p:cNvSpPr txBox="1"/>
          <p:nvPr/>
        </p:nvSpPr>
        <p:spPr>
          <a:xfrm>
            <a:off x="822960" y="1554480"/>
            <a:ext cx="4846320" cy="457200"/>
          </a:xfrm>
          <a:prstGeom prst="rect">
            <a:avLst/>
          </a:prstGeom>
          <a:noFill/>
          <a:ln/>
        </p:spPr>
        <p:txBody>
          <a:bodyPr wrap="square" rtlCol="0" anchor="t"/>
          <a:lstStyle/>
          <a:p>
            <a:pPr indent="0" marL="0">
              <a:buNone/>
            </a:pPr>
            <a:r>
              <a:rPr lang="en-US" sz="2200" b="1" dirty="0">
                <a:solidFill>
                  <a:schemeClr val="accent3"/>
                </a:solidFill>
              </a:rPr>
              <a:t>Hạn chế</a:t>
            </a:r>
            <a:endParaRPr lang="en-US" sz="2200" dirty="0"/>
          </a:p>
        </p:txBody>
      </p:sp>
      <p:sp>
        <p:nvSpPr>
          <p:cNvPr id="5" name="Text 3"/>
          <p:cNvSpPr txBox="1"/>
          <p:nvPr/>
        </p:nvSpPr>
        <p:spPr>
          <a:xfrm>
            <a:off x="822960" y="2194560"/>
            <a:ext cx="4937760" cy="3200400"/>
          </a:xfrm>
          <a:prstGeom prst="rect">
            <a:avLst/>
          </a:prstGeom>
          <a:noFill/>
          <a:ln/>
        </p:spPr>
        <p:txBody>
          <a:bodyPr wrap="square" rtlCol="0" anchor="t"/>
          <a:lstStyle/>
          <a:p>
            <a:pPr marL="342900" indent="-342900">
              <a:spcAft>
                <a:spcPts val="1600"/>
              </a:spcAft>
              <a:buSzPct val="100000"/>
              <a:buChar char="•"/>
            </a:pPr>
            <a:r>
              <a:rPr lang="en-US" sz="1900" dirty="0">
                <a:solidFill>
                  <a:schemeClr val="tx1"/>
                </a:solidFill>
              </a:rPr>
              <a:t>Chưa có quên/đổi mật khẩu, chưa gửi email/SMS</a:t>
            </a:r>
            <a:endParaRPr lang="en-US" sz="1900" dirty="0"/>
          </a:p>
          <a:p>
            <a:pPr marL="342900" indent="-342900">
              <a:spcAft>
                <a:spcPts val="1600"/>
              </a:spcAft>
              <a:buSzPct val="100000"/>
              <a:buChar char="•"/>
            </a:pPr>
            <a:r>
              <a:rPr lang="en-US" sz="1900" dirty="0">
                <a:solidFill>
                  <a:schemeClr val="tx1"/>
                </a:solidFill>
              </a:rPr>
              <a:t>Khung giờ phải tạo thủ công từng khung</a:t>
            </a:r>
            <a:endParaRPr lang="en-US" sz="1900" dirty="0"/>
          </a:p>
          <a:p>
            <a:pPr marL="342900" indent="-342900">
              <a:spcAft>
                <a:spcPts val="1600"/>
              </a:spcAft>
              <a:buSzPct val="100000"/>
              <a:buChar char="•"/>
            </a:pPr>
            <a:r>
              <a:rPr lang="en-US" sz="1900" dirty="0">
                <a:solidFill>
                  <a:schemeClr val="tx1"/>
                </a:solidFill>
              </a:rPr>
              <a:t>Thống kê chưa xuất Excel/PDF</a:t>
            </a:r>
            <a:endParaRPr lang="en-US" sz="1900" dirty="0"/>
          </a:p>
          <a:p>
            <a:pPr marL="342900" indent="-342900">
              <a:spcAft>
                <a:spcPts val="1600"/>
              </a:spcAft>
              <a:buSzPct val="100000"/>
              <a:buChar char="•"/>
            </a:pPr>
            <a:r>
              <a:rPr lang="en-US" sz="1900" dirty="0">
                <a:solidFill>
                  <a:schemeClr val="tx1"/>
                </a:solidFill>
              </a:rPr>
              <a:t>Giao diện chưa tối ưu cho điện thoại</a:t>
            </a:r>
            <a:endParaRPr lang="en-US" sz="1900" dirty="0"/>
          </a:p>
        </p:txBody>
      </p:sp>
      <p:sp>
        <p:nvSpPr>
          <p:cNvPr id="6" name="col-phat-trien"/>
          <p:cNvSpPr/>
          <p:nvPr/>
        </p:nvSpPr>
        <p:spPr>
          <a:xfrm>
            <a:off x="6199632" y="1371600"/>
            <a:ext cx="5440680" cy="4206240"/>
          </a:xfrm>
          <a:prstGeom prst="roundRect">
            <a:avLst>
              <a:gd name="adj" fmla="val 2609"/>
            </a:avLst>
          </a:prstGeom>
          <a:solidFill>
            <a:schemeClr val="tx2"/>
          </a:solidFill>
          <a:ln w="12700">
            <a:solidFill>
              <a:schemeClr val="tx2"/>
            </a:solidFill>
            <a:prstDash val="solid"/>
          </a:ln>
        </p:spPr>
      </p:sp>
      <p:sp>
        <p:nvSpPr>
          <p:cNvPr id="7" name="Text 5"/>
          <p:cNvSpPr txBox="1"/>
          <p:nvPr/>
        </p:nvSpPr>
        <p:spPr>
          <a:xfrm>
            <a:off x="6473952" y="1554480"/>
            <a:ext cx="4846320" cy="457200"/>
          </a:xfrm>
          <a:prstGeom prst="rect">
            <a:avLst/>
          </a:prstGeom>
          <a:noFill/>
          <a:ln/>
        </p:spPr>
        <p:txBody>
          <a:bodyPr wrap="square" rtlCol="0" anchor="t"/>
          <a:lstStyle/>
          <a:p>
            <a:pPr indent="0" marL="0">
              <a:buNone/>
            </a:pPr>
            <a:r>
              <a:rPr lang="en-US" sz="2200" b="1" dirty="0">
                <a:solidFill>
                  <a:schemeClr val="accent2"/>
                </a:solidFill>
              </a:rPr>
              <a:t>Hướng phát triển</a:t>
            </a:r>
            <a:endParaRPr lang="en-US" sz="2200" dirty="0"/>
          </a:p>
        </p:txBody>
      </p:sp>
      <p:sp>
        <p:nvSpPr>
          <p:cNvPr id="8" name="Text 6"/>
          <p:cNvSpPr txBox="1"/>
          <p:nvPr/>
        </p:nvSpPr>
        <p:spPr>
          <a:xfrm>
            <a:off x="6473952" y="2194560"/>
            <a:ext cx="4937760" cy="3200400"/>
          </a:xfrm>
          <a:prstGeom prst="rect">
            <a:avLst/>
          </a:prstGeom>
          <a:noFill/>
          <a:ln/>
        </p:spPr>
        <p:txBody>
          <a:bodyPr wrap="square" rtlCol="0" anchor="t"/>
          <a:lstStyle/>
          <a:p>
            <a:pPr marL="342900" indent="-342900">
              <a:spcAft>
                <a:spcPts val="1600"/>
              </a:spcAft>
              <a:buSzPct val="100000"/>
              <a:buChar char="•"/>
            </a:pPr>
            <a:r>
              <a:rPr lang="en-US" sz="1900" dirty="0">
                <a:solidFill>
                  <a:schemeClr val="bg1"/>
                </a:solidFill>
              </a:rPr>
              <a:t>Gửi email/SMS xác nhận, nhắc lịch; thêm vai trò Bác sĩ</a:t>
            </a:r>
            <a:endParaRPr lang="en-US" sz="1900" dirty="0"/>
          </a:p>
          <a:p>
            <a:pPr marL="342900" indent="-342900">
              <a:spcAft>
                <a:spcPts val="1600"/>
              </a:spcAft>
              <a:buSzPct val="100000"/>
              <a:buChar char="•"/>
            </a:pPr>
            <a:r>
              <a:rPr lang="en-US" sz="1900" dirty="0">
                <a:solidFill>
                  <a:schemeClr val="bg1"/>
                </a:solidFill>
              </a:rPr>
              <a:t>Tạo khung giờ hàng loạt theo lịch tuần</a:t>
            </a:r>
            <a:endParaRPr lang="en-US" sz="1900" dirty="0"/>
          </a:p>
          <a:p>
            <a:pPr marL="342900" indent="-342900">
              <a:spcAft>
                <a:spcPts val="1600"/>
              </a:spcAft>
              <a:buSzPct val="100000"/>
              <a:buChar char="•"/>
            </a:pPr>
            <a:r>
              <a:rPr lang="en-US" sz="1900" dirty="0">
                <a:solidFill>
                  <a:schemeClr val="bg1"/>
                </a:solidFill>
              </a:rPr>
              <a:t>Xuất báo cáo, biểu đồ Chart.js</a:t>
            </a:r>
            <a:endParaRPr lang="en-US" sz="1900" dirty="0"/>
          </a:p>
          <a:p>
            <a:pPr marL="342900" indent="-342900">
              <a:spcAft>
                <a:spcPts val="1600"/>
              </a:spcAft>
              <a:buSzPct val="100000"/>
              <a:buChar char="•"/>
            </a:pPr>
            <a:r>
              <a:rPr lang="en-US" sz="1900" dirty="0">
                <a:solidFill>
                  <a:schemeClr val="bg1"/>
                </a:solidFill>
              </a:rPr>
              <a:t>Chuyển sang ASP.NET Core + Entity Framework, Web API cho ứng dụng di động</a:t>
            </a:r>
            <a:endParaRPr lang="en-US" sz="19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nchor="ctr"/>
          <a:lstStyle/>
          <a:p>
            <a:pPr algn="l" indent="0" marL="0">
              <a:buNone/>
            </a:pPr>
            <a:r>
              <a:rPr lang="en-US" sz="4000" b="1" dirty="0">
                <a:solidFill>
                  <a:schemeClr val="bg1"/>
                </a:solidFill>
              </a:rPr>
              <a:t>Em xin chân thành cảm ơn!</a:t>
            </a:r>
            <a:endParaRPr lang="en-US" sz="4000" dirty="0"/>
          </a:p>
        </p:txBody>
      </p:sp>
      <p:sp>
        <p:nvSpPr>
          <p:cNvPr id="3" name="Text 0"/>
          <p:cNvSpPr/>
          <p:nvPr>
            <p:ph idx="101" type="body" hasCustomPrompt="1"/>
          </p:nvPr>
        </p:nvSpPr>
        <p:spPr>
          <a:xfrm>
            <a:off x="731520" y="3931920"/>
            <a:ext cx="10698480" cy="1645920"/>
          </a:xfrm>
          <a:prstGeom prst="rect">
            <a:avLst/>
          </a:prstGeom>
          <a:noFill/>
          <a:ln/>
        </p:spPr>
        <p:txBody>
          <a:bodyPr wrap="square" rtlCol="0" anchor="t"/>
          <a:lstStyle/>
          <a:p>
            <a:pPr indent="0" marL="0">
              <a:buNone/>
            </a:pPr>
            <a:r>
              <a:rPr lang="en-US" sz="1800" dirty="0">
                <a:solidFill>
                  <a:schemeClr val="bg2"/>
                </a:solidFill>
              </a:rPr>
              <a:t>Đã hoàn thành 11 chức năng, CSDL 7 bảng có đầy đủ ràng buộc, kiểm thử 19/19 kịch bản đạt.</a:t>
            </a:r>
            <a:endParaRPr lang="en-US" sz="1800" dirty="0"/>
          </a:p>
          <a:p>
            <a:pPr indent="0" marL="0">
              <a:buNone/>
            </a:pPr>
            <a:r>
              <a:rPr lang="en-US" sz="1800" dirty="0">
                <a:solidFill>
                  <a:schemeClr val="bg2"/>
                </a:solidFill>
              </a:rPr>
              <a:t>Mã nguồn: github.com/khanhtd070695-VX23TTK12/ASPNET-VX23TTK12-TONGDUYKHANH-DatLichKham</a:t>
            </a:r>
            <a:endParaRPr lang="en-US" sz="1800" dirty="0"/>
          </a:p>
        </p:txBody>
      </p:sp>
      <p:sp>
        <p:nvSpPr>
          <p:cNvPr id="4" name="icon-bg-git"/>
          <p:cNvSpPr/>
          <p:nvPr/>
        </p:nvSpPr>
        <p:spPr>
          <a:xfrm>
            <a:off x="10332720" y="5120640"/>
            <a:ext cx="1097280" cy="1097280"/>
          </a:xfrm>
          <a:prstGeom prst="ellipse">
            <a:avLst/>
          </a:prstGeom>
          <a:solidFill>
            <a:schemeClr val="accent1"/>
          </a:solidFill>
          <a:ln w="12700">
            <a:solidFill>
              <a:schemeClr val="accent1"/>
            </a:solidFill>
            <a:prstDash val="solid"/>
          </a:ln>
        </p:spPr>
      </p:sp>
      <p:pic>
        <p:nvPicPr>
          <p:cNvPr id="5" name="icon-git" descr="preencoded.png">    </p:cNvPr>
          <p:cNvPicPr>
            <a:picLocks noChangeAspect="1"/>
          </p:cNvPicPr>
          <p:nvPr/>
        </p:nvPicPr>
        <p:blipFill>
          <a:blip r:embed="rId1"/>
          <a:stretch>
            <a:fillRect/>
          </a:stretch>
        </p:blipFill>
        <p:spPr>
          <a:xfrm>
            <a:off x="10596067" y="5383987"/>
            <a:ext cx="570586" cy="570586"/>
          </a:xfrm>
          <a:prstGeom prst="rect">
            <a:avLst/>
          </a:prstGeom>
        </p:spPr>
      </p:pic>
    </p:spTree>
  </p:cSld>
  <p:clrMapOvr>
    <a:masterClrMapping/>
  </p:clrMapOvr>
</p:sld>
</file>

<file path=ppt/theme/theme1.xml><?xml version="1.0" encoding="utf-8"?>
<a:theme xmlns:a="http://schemas.openxmlformats.org/drawingml/2006/main" name="Y te Teal">
  <a:themeElements>
    <a:clrScheme name="Y te Teal">
      <a:dk1>
        <a:srgbClr val="1F2D33"/>
      </a:dk1>
      <a:lt1>
        <a:srgbClr val="FFFFFF"/>
      </a:lt1>
      <a:dk2>
        <a:srgbClr val="0B3C49"/>
      </a:dk2>
      <a:lt2>
        <a:srgbClr val="E6F4F1"/>
      </a:lt2>
      <a:accent1>
        <a:srgbClr val="028090"/>
      </a:accent1>
      <a:accent2>
        <a:srgbClr val="02C39A"/>
      </a:accent2>
      <a:accent3>
        <a:srgbClr val="D1495B"/>
      </a:accent3>
      <a:accent4>
        <a:srgbClr val="F2A541"/>
      </a:accent4>
      <a:accent5>
        <a:srgbClr val="5B6B70"/>
      </a:accent5>
      <a:accent6>
        <a:srgbClr val="8FD5C6"/>
      </a:accent6>
      <a:hlink>
        <a:srgbClr val="028090"/>
      </a:hlink>
      <a:folHlink>
        <a:srgbClr val="0B3C49"/>
      </a:folHlink>
    </a:clrScheme>
    <a:fontScheme name="Y t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đặt lịch hẹn khám bệnh ngoài giờ</dc:title>
  <dc:subject>PptxGenJS Presentation</dc:subject>
  <dc:creator>Tống Duy Khanh</dc:creator>
  <cp:lastModifiedBy>Tống Duy Khanh</cp:lastModifiedBy>
  <cp:revision>1</cp:revision>
  <dcterms:created xsi:type="dcterms:W3CDTF">2026-10-27T16:03:55Z</dcterms:created>
  <dcterms:modified xsi:type="dcterms:W3CDTF">2026-10-27T16:03:55Z</dcterms:modified>
</cp:coreProperties>
</file>